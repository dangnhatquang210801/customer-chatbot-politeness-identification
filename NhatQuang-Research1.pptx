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69" r:id="rId2"/>
    <p:sldId id="317" r:id="rId3"/>
    <p:sldId id="282" r:id="rId4"/>
    <p:sldId id="271" r:id="rId5"/>
    <p:sldId id="314" r:id="rId6"/>
    <p:sldId id="287" r:id="rId7"/>
    <p:sldId id="310" r:id="rId8"/>
    <p:sldId id="296" r:id="rId9"/>
    <p:sldId id="291" r:id="rId10"/>
    <p:sldId id="295" r:id="rId11"/>
    <p:sldId id="311" r:id="rId12"/>
    <p:sldId id="297" r:id="rId13"/>
    <p:sldId id="312" r:id="rId14"/>
    <p:sldId id="299" r:id="rId15"/>
    <p:sldId id="298" r:id="rId16"/>
    <p:sldId id="301" r:id="rId17"/>
    <p:sldId id="313" r:id="rId18"/>
    <p:sldId id="300" r:id="rId19"/>
    <p:sldId id="303" r:id="rId20"/>
    <p:sldId id="304" r:id="rId21"/>
    <p:sldId id="307" r:id="rId22"/>
    <p:sldId id="306" r:id="rId23"/>
    <p:sldId id="315" r:id="rId24"/>
    <p:sldId id="308" r:id="rId25"/>
    <p:sldId id="318" r:id="rId26"/>
    <p:sldId id="309" r:id="rId27"/>
    <p:sldId id="283" r:id="rId28"/>
    <p:sldId id="285" r:id="rId29"/>
    <p:sldId id="275" r:id="rId30"/>
    <p:sldId id="266" r:id="rId31"/>
    <p:sldId id="276" r:id="rId32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781676B-64D7-A140-ACAD-3CCCBC068D44}">
          <p14:sldIdLst>
            <p14:sldId id="269"/>
          </p14:sldIdLst>
        </p14:section>
        <p14:section name="Section 1" id="{FD9E48D2-741A-BB4F-A3E1-9944E5DCD3FF}">
          <p14:sldIdLst>
            <p14:sldId id="317"/>
            <p14:sldId id="282"/>
            <p14:sldId id="271"/>
            <p14:sldId id="314"/>
          </p14:sldIdLst>
        </p14:section>
        <p14:section name="Section 2" id="{04E92B77-70E5-BB4E-A00F-51B966E25D4C}">
          <p14:sldIdLst>
            <p14:sldId id="287"/>
            <p14:sldId id="310"/>
            <p14:sldId id="296"/>
            <p14:sldId id="291"/>
            <p14:sldId id="295"/>
            <p14:sldId id="311"/>
            <p14:sldId id="297"/>
            <p14:sldId id="312"/>
            <p14:sldId id="299"/>
            <p14:sldId id="298"/>
            <p14:sldId id="301"/>
            <p14:sldId id="313"/>
            <p14:sldId id="300"/>
            <p14:sldId id="303"/>
            <p14:sldId id="304"/>
            <p14:sldId id="307"/>
            <p14:sldId id="306"/>
            <p14:sldId id="315"/>
            <p14:sldId id="308"/>
            <p14:sldId id="318"/>
            <p14:sldId id="309"/>
            <p14:sldId id="283"/>
            <p14:sldId id="285"/>
            <p14:sldId id="275"/>
            <p14:sldId id="266"/>
          </p14:sldIdLst>
        </p14:section>
        <p14:section name="final" id="{03523F73-239D-A445-BF40-BCFBBDA0677C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5872" autoAdjust="0"/>
  </p:normalViewPr>
  <p:slideViewPr>
    <p:cSldViewPr snapToObjects="1">
      <p:cViewPr varScale="1">
        <p:scale>
          <a:sx n="107" d="100"/>
          <a:sy n="107" d="100"/>
        </p:scale>
        <p:origin x="7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74557" y="2841830"/>
            <a:ext cx="6408712" cy="324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tabLst>
                <a:tab pos="1152525" algn="l"/>
              </a:tabLst>
              <a:defRPr sz="1500" b="0">
                <a:solidFill>
                  <a:schemeClr val="bg2"/>
                </a:solidFill>
                <a:latin typeface="RUB Scala MZ" panose="02000504070000020003" pitchFamily="2" charset="77"/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 err="1"/>
              <a:t>Subtitle</a:t>
            </a:r>
            <a:r>
              <a:rPr lang="de-DE" dirty="0"/>
              <a:t> / </a:t>
            </a:r>
            <a:r>
              <a:rPr lang="de-DE" dirty="0" err="1"/>
              <a:t>Author</a:t>
            </a:r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6" y="1662477"/>
            <a:ext cx="6408711" cy="11685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000" b="1" cap="all" baseline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9" name="Grafik 8" descr="Ein Bild, das Gebäude, Kuppel enthält.&#10;&#10;Automatisch generierte Beschreibung">
            <a:extLst>
              <a:ext uri="{FF2B5EF4-FFF2-40B4-BE49-F238E27FC236}">
                <a16:creationId xmlns:a16="http://schemas.microsoft.com/office/drawing/2014/main" id="{C1BB2F7F-31E0-CC41-A64A-1FC9D0F54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60"/>
          <a:stretch/>
        </p:blipFill>
        <p:spPr>
          <a:xfrm>
            <a:off x="6876256" y="366333"/>
            <a:ext cx="2267744" cy="4554850"/>
          </a:xfrm>
          <a:prstGeom prst="rect">
            <a:avLst/>
          </a:prstGeom>
        </p:spPr>
      </p:pic>
      <p:pic>
        <p:nvPicPr>
          <p:cNvPr id="10" name="Grafik 9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98AD6756-A286-5C42-83BD-A10AFBE498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7" y="4380649"/>
            <a:ext cx="1089286" cy="4561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84B9F8B-66D5-4148-8E60-DCA14A80E2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21" y="4306028"/>
            <a:ext cx="1089287" cy="604355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6FF916D-1E24-9147-B308-6EF1EA4407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556" y="1334851"/>
            <a:ext cx="3455988" cy="28416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 dirty="0"/>
              <a:t>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/ Place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98C9846-10EA-584E-9393-A7E61E5FE5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147814"/>
            <a:ext cx="6408737" cy="324001"/>
          </a:xfrm>
          <a:prstGeom prst="rect">
            <a:avLst/>
          </a:prstGeom>
        </p:spPr>
        <p:txBody>
          <a:bodyPr/>
          <a:lstStyle>
            <a:lvl1pPr>
              <a:defRPr sz="900" b="0" i="0">
                <a:latin typeface="RubFlama" panose="02000000000000000000" pitchFamily="2" charset="77"/>
              </a:defRPr>
            </a:lvl1pPr>
          </a:lstStyle>
          <a:p>
            <a:pPr lvl="0"/>
            <a:r>
              <a:rPr lang="de-DE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C9283559-2C67-3341-AD9F-8FD2B222F5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40469">
            <a:off x="823" y="703030"/>
            <a:ext cx="2123715" cy="2416642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99992" y="503998"/>
            <a:ext cx="4320008" cy="3780001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 Section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126DC0A-0CAB-AB43-BA9F-FC6891F53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000" y="1203598"/>
            <a:ext cx="1727720" cy="1512168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Hemd enthält.&#10;&#10;Automatisch generierte Beschreibung">
            <a:extLst>
              <a:ext uri="{FF2B5EF4-FFF2-40B4-BE49-F238E27FC236}">
                <a16:creationId xmlns:a16="http://schemas.microsoft.com/office/drawing/2014/main" id="{0C5671DE-AE8F-BD4E-A408-73AC0F5286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 Section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5AFD21E-93DF-EF44-A4EC-A8CC429A71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005358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4D2A3-CE0A-4E44-8F36-1E3F1FDB72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7632392" cy="3366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1"/>
            <a:r>
              <a:rPr lang="de-DE" dirty="0"/>
              <a:t>Text</a:t>
            </a:r>
          </a:p>
          <a:p>
            <a:pPr lvl="2"/>
            <a:r>
              <a:rPr lang="de-DE" dirty="0"/>
              <a:t>Bullet 1</a:t>
            </a:r>
          </a:p>
          <a:p>
            <a:pPr lvl="3"/>
            <a:r>
              <a:rPr lang="de-DE" dirty="0"/>
              <a:t>Bullet 2</a:t>
            </a:r>
          </a:p>
          <a:p>
            <a:pPr lvl="4"/>
            <a:r>
              <a:rPr lang="de-DE" dirty="0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Hemd enthält.&#10;&#10;Automatisch generierte Beschreibung">
            <a:extLst>
              <a:ext uri="{FF2B5EF4-FFF2-40B4-BE49-F238E27FC236}">
                <a16:creationId xmlns:a16="http://schemas.microsoft.com/office/drawing/2014/main" id="{1DEE1A4F-898D-2443-AEB3-8E0A7577CB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 Section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Image title</a:t>
            </a:r>
          </a:p>
          <a:p>
            <a:pPr lvl="1"/>
            <a:r>
              <a:rPr lang="de-DE" dirty="0"/>
              <a:t>Explanation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Image title</a:t>
            </a:r>
          </a:p>
          <a:p>
            <a:pPr lvl="1"/>
            <a:r>
              <a:rPr lang="de-DE" dirty="0"/>
              <a:t>Explanation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 err="1"/>
              <a:t>Section</a:t>
            </a:r>
            <a:r>
              <a:rPr lang="de-DE" dirty="0"/>
              <a:t> | </a:t>
            </a:r>
            <a:r>
              <a:rPr lang="de-DE" dirty="0" err="1"/>
              <a:t>Section</a:t>
            </a:r>
            <a:r>
              <a:rPr lang="de-DE" dirty="0"/>
              <a:t> </a:t>
            </a:r>
            <a:r>
              <a:rPr lang="de-DE" dirty="0" err="1"/>
              <a:t>headline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Hemd enthält.&#10;&#10;Automatisch generierte Beschreibung">
            <a:extLst>
              <a:ext uri="{FF2B5EF4-FFF2-40B4-BE49-F238E27FC236}">
                <a16:creationId xmlns:a16="http://schemas.microsoft.com/office/drawing/2014/main" id="{3691E624-6FE3-A249-9BF6-2238875A63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| ggf. Iitere Angaben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04000" y="954000"/>
            <a:ext cx="4536000" cy="3024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Add Image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A8D6956-691E-E04E-8C15-E1B520BBF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C0A025C-8C18-BDCA-6D1D-0392EE474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3706" y="884479"/>
            <a:ext cx="3594238" cy="327144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Hemd enthält.&#10;&#10;Automatisch generierte Beschreibung">
            <a:extLst>
              <a:ext uri="{FF2B5EF4-FFF2-40B4-BE49-F238E27FC236}">
                <a16:creationId xmlns:a16="http://schemas.microsoft.com/office/drawing/2014/main" id="{0662EBE8-6910-0A43-9CBD-50EA6CA501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 Chapter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  <a:prstGeom prst="rect">
            <a:avLst/>
          </a:prstGeo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| ggf. Iitere Angaben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pic>
        <p:nvPicPr>
          <p:cNvPr id="7" name="Grafik 6" descr="Ein Bild, das Gebäude, Kuppel enthält.&#10;&#10;Automatisch generierte Beschreibung">
            <a:extLst>
              <a:ext uri="{FF2B5EF4-FFF2-40B4-BE49-F238E27FC236}">
                <a16:creationId xmlns:a16="http://schemas.microsoft.com/office/drawing/2014/main" id="{B3469E6B-16C1-F749-814D-B68A2BD38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9" t="-1686" r="-40434" b="1686"/>
          <a:stretch/>
        </p:blipFill>
        <p:spPr>
          <a:xfrm>
            <a:off x="0" y="411510"/>
            <a:ext cx="2812691" cy="3981189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3B9F49EF-43AE-7A4F-B85A-0880A38620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19672" y="1744699"/>
            <a:ext cx="6892745" cy="1653568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rgbClr val="1F3B51"/>
                </a:solidFill>
                <a:latin typeface="RubFlama" panose="02000000000000000000" pitchFamily="2" charset="77"/>
                <a:cs typeface="Poppins" panose="00000500000000000000" pitchFamily="2" charset="0"/>
              </a:defRPr>
            </a:lvl1pPr>
          </a:lstStyle>
          <a:p>
            <a:r>
              <a:rPr lang="en-GB" noProof="0" dirty="0"/>
              <a:t>Thank you for your attention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F62B29B8-A8FA-1C45-AD65-779582E09F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19672" y="1287000"/>
            <a:ext cx="6892745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latin typeface="RubFlama" panose="02000000000000000000" pitchFamily="2" charset="77"/>
                <a:cs typeface="Poppins Light" panose="000004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Title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CB6DFADE-29F8-914E-9FD9-E144A4C9C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9672" y="3483149"/>
            <a:ext cx="6892745" cy="312737"/>
          </a:xfrm>
          <a:prstGeom prst="rect">
            <a:avLst/>
          </a:prstGeom>
        </p:spPr>
        <p:txBody>
          <a:bodyPr/>
          <a:lstStyle>
            <a:lvl2pPr marL="457200" indent="0" algn="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RUB Scala MZ" panose="02000504070000020003" pitchFamily="2" charset="77"/>
              </a:defRPr>
            </a:lvl2pPr>
          </a:lstStyle>
          <a:p>
            <a:pPr lvl="1"/>
            <a:r>
              <a:rPr lang="en-GB" noProof="0" dirty="0"/>
              <a:t>E-Mail - Autor</a:t>
            </a:r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Hemd enthält.&#10;&#10;Automatisch generierte Beschreibung">
            <a:extLst>
              <a:ext uri="{FF2B5EF4-FFF2-40B4-BE49-F238E27FC236}">
                <a16:creationId xmlns:a16="http://schemas.microsoft.com/office/drawing/2014/main" id="{85A8589D-24F0-C44A-A06A-3ACD06CB5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53" r="42388"/>
          <a:stretch/>
        </p:blipFill>
        <p:spPr>
          <a:xfrm>
            <a:off x="7092280" y="0"/>
            <a:ext cx="2051720" cy="209946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Titel | ggf. Iitere Angaben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Iitere eingefügt Irden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7" name="Grafik 16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0080B597-C547-3242-B718-CAD852191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 userDrawn="1">
            <p:ph type="dt" sz="half" idx="2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720000" y="4752000"/>
            <a:ext cx="6300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r>
              <a:rPr lang="de-DE" dirty="0"/>
              <a:t>Titel | ggf. Iitere Angaben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752000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grpSp>
        <p:nvGrpSpPr>
          <p:cNvPr id="31" name="Regieanweisungen"/>
          <p:cNvGrpSpPr/>
          <p:nvPr userDrawn="1"/>
        </p:nvGrpSpPr>
        <p:grpSpPr>
          <a:xfrm>
            <a:off x="-2088000" y="-468000"/>
            <a:ext cx="13284000" cy="6083999"/>
            <a:chOff x="-2088000" y="-468000"/>
            <a:chExt cx="13284000" cy="6083999"/>
          </a:xfrm>
        </p:grpSpPr>
        <p:grpSp>
          <p:nvGrpSpPr>
            <p:cNvPr id="29" name="Listenebenen"/>
            <p:cNvGrpSpPr/>
            <p:nvPr userDrawn="1"/>
          </p:nvGrpSpPr>
          <p:grpSpPr>
            <a:xfrm>
              <a:off x="-2088000" y="1368000"/>
              <a:ext cx="1980000" cy="2319874"/>
              <a:chOff x="-2088000" y="1368000"/>
              <a:chExt cx="1980000" cy="2319874"/>
            </a:xfrm>
          </p:grpSpPr>
          <p:sp>
            <p:nvSpPr>
              <p:cNvPr id="12" name="Text // Listenebene erhöhen"/>
              <p:cNvSpPr txBox="1"/>
              <p:nvPr userDrawn="1"/>
            </p:nvSpPr>
            <p:spPr>
              <a:xfrm>
                <a:off x="-2016000" y="2787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13" name="Text // Listenebene verringern"/>
              <p:cNvSpPr txBox="1"/>
              <p:nvPr userDrawn="1"/>
            </p:nvSpPr>
            <p:spPr>
              <a:xfrm>
                <a:off x="-2016000" y="3291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5" name="Listenebenen"/>
              <p:cNvSpPr txBox="1"/>
              <p:nvPr userDrawn="1"/>
            </p:nvSpPr>
            <p:spPr>
              <a:xfrm rot="10800000" flipH="1" flipV="1">
                <a:off x="-2088000" y="1368000"/>
                <a:ext cx="1980000" cy="828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Listen erstellen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Ichseln Sie die Textebene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</a:p>
            </p:txBody>
          </p:sp>
          <p:pic>
            <p:nvPicPr>
              <p:cNvPr id="27" name="Bild // Listenebene verringern"/>
              <p:cNvPicPr>
                <a:picLocks noChangeAspect="1"/>
              </p:cNvPicPr>
              <p:nvPr userDrawn="1"/>
            </p:nvPicPr>
            <p:blipFill>
              <a:blip r:embed="rId11"/>
              <a:stretch>
                <a:fillRect/>
              </a:stretch>
            </p:blipFill>
            <p:spPr>
              <a:xfrm>
                <a:off x="-963360" y="3291874"/>
                <a:ext cx="855360" cy="396000"/>
              </a:xfrm>
              <a:prstGeom prst="rect">
                <a:avLst/>
              </a:prstGeom>
            </p:spPr>
          </p:pic>
          <p:pic>
            <p:nvPicPr>
              <p:cNvPr id="28" name="Bild // Listenebene erhöhen"/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-963360" y="2787874"/>
                <a:ext cx="855360" cy="396000"/>
              </a:xfrm>
              <a:prstGeom prst="rect">
                <a:avLst/>
              </a:prstGeom>
            </p:spPr>
          </p:pic>
        </p:grpSp>
        <p:sp>
          <p:nvSpPr>
            <p:cNvPr id="14" name="Zurücksetzen"/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Menü: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Haken bei Führungslinien setzen</a:t>
              </a:r>
            </a:p>
          </p:txBody>
        </p:sp>
        <p:sp>
          <p:nvSpPr>
            <p:cNvPr id="16" name="Fußzeile"/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2283786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Ichsel des Folienlayouts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</p:grp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1B1FA0-8233-4248-B899-BF9702E3E986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fik 20" descr="Ein Bild, das Essen, Hemd, Hut enthält.&#10;&#10;Automatisch generierte Beschreibung">
            <a:extLst>
              <a:ext uri="{FF2B5EF4-FFF2-40B4-BE49-F238E27FC236}">
                <a16:creationId xmlns:a16="http://schemas.microsoft.com/office/drawing/2014/main" id="{63980D3F-44B4-F04C-A20F-5AE6C95617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714" y="4571638"/>
            <a:ext cx="1089286" cy="4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3" r:id="rId5"/>
    <p:sldLayoutId id="2147483662" r:id="rId6"/>
    <p:sldLayoutId id="2147483658" r:id="rId7"/>
    <p:sldLayoutId id="2147483654" r:id="rId8"/>
    <p:sldLayoutId id="2147483667" r:id="rId9"/>
  </p:sldLayoutIdLst>
  <p:hf hd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1" kern="1200" baseline="0">
          <a:solidFill>
            <a:schemeClr val="tx2"/>
          </a:solidFill>
          <a:latin typeface="RubFlama" panose="02000000000000000000" pitchFamily="2" charset="77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RUB Scala MZ" panose="02000504070000020003" pitchFamily="2" charset="77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slide" Target="slide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0.xml"/><Relationship Id="rId5" Type="http://schemas.openxmlformats.org/officeDocument/2006/relationships/slide" Target="slide16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rss.onlinelibrary.wiley.com/doi/10.1111/j.2517-6161.1995.tb02031.x?utm_source=chatgpt.com" TargetMode="External"/><Relationship Id="rId13" Type="http://schemas.openxmlformats.org/officeDocument/2006/relationships/hyperlink" Target="https://black.readthedocs.io/?utm_source=chatgpt.com" TargetMode="External"/><Relationship Id="rId3" Type="http://schemas.openxmlformats.org/officeDocument/2006/relationships/hyperlink" Target="https://pandas.pydata.org/docs/reference/api/pandas.merge.html?utm_source=chatgpt.com" TargetMode="External"/><Relationship Id="rId7" Type="http://schemas.openxmlformats.org/officeDocument/2006/relationships/hyperlink" Target="https://www.statsmodels.org/dev/generated/statsmodels.stats.multitest.multipletests.html?utm_source=chatgpt.com" TargetMode="External"/><Relationship Id="rId12" Type="http://schemas.openxmlformats.org/officeDocument/2006/relationships/hyperlink" Target="https://hypothesis.readthedocs.io/?utm_source=chatgpt.com" TargetMode="External"/><Relationship Id="rId2" Type="http://schemas.openxmlformats.org/officeDocument/2006/relationships/hyperlink" Target="https://pandas.pydata.org/docs/reference/api/pandas.read_csv.html?utm_source=chatgpt.com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cs.scipy.org/doc/scipy/reference/generated/scipy.stats.ttest_ind.html?utm_source=chatgpt.com" TargetMode="External"/><Relationship Id="rId11" Type="http://schemas.openxmlformats.org/officeDocument/2006/relationships/hyperlink" Target="https://docs.pytest.org/en/stable/how-to/parametrize.html?utm_source=chatgpt.com" TargetMode="External"/><Relationship Id="rId5" Type="http://schemas.openxmlformats.org/officeDocument/2006/relationships/hyperlink" Target="https://docs.greatexpectations.io/docs/home/?utm_source=chatgpt.com" TargetMode="External"/><Relationship Id="rId10" Type="http://schemas.openxmlformats.org/officeDocument/2006/relationships/hyperlink" Target="https://docs.python.org/3/howto/regex.html?utm_source=chatgpt.com" TargetMode="External"/><Relationship Id="rId4" Type="http://schemas.openxmlformats.org/officeDocument/2006/relationships/hyperlink" Target="https://pandera.readthedocs.io/en/stable/dataframe_schemas.html?utm_source=chatgpt.com" TargetMode="External"/><Relationship Id="rId9" Type="http://schemas.openxmlformats.org/officeDocument/2006/relationships/hyperlink" Target="https://pingouin-stats.org/build/html/generated/pingouin.compute_effsize.html?utm_source=chatgpt.com" TargetMode="External"/><Relationship Id="rId14" Type="http://schemas.openxmlformats.org/officeDocument/2006/relationships/hyperlink" Target="https://docs.astral.sh/ruff/?utm_source=chatgpt.com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608F1DFF-05FB-2F49-BCD4-37026B04A2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Dang Nhat Quang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2754679-0C32-ED49-BC9D-A4B22EC3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56" y="1662477"/>
            <a:ext cx="6905756" cy="1168553"/>
          </a:xfrm>
        </p:spPr>
        <p:txBody>
          <a:bodyPr/>
          <a:lstStyle/>
          <a:p>
            <a:r>
              <a:rPr lang="de-DE" sz="3200" cap="none" dirty="0"/>
              <a:t>Speech Acts and Politeness Strategies in Customer Service Chatbots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32CA65-7B33-5A4D-A564-2945127BB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Research Project 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44EACC-2777-6847-8CED-1283195C62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398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0ED79-023D-92E9-0DD3-1E9B9DED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BE65A6-B1CA-F9FE-4290-4E01DB5764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Project Aims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C85F7-3881-3803-957B-AC20DC9A02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D75C5-620B-5134-28E2-A05ED88D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does “speech acts” mean here?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4334D-775A-35A2-EBEA-1B50565B9BAD}"/>
              </a:ext>
            </a:extLst>
          </p:cNvPr>
          <p:cNvSpPr txBox="1"/>
          <p:nvPr/>
        </p:nvSpPr>
        <p:spPr>
          <a:xfrm>
            <a:off x="464218" y="1563638"/>
            <a:ext cx="84424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 speech act </a:t>
            </a:r>
            <a:r>
              <a:rPr lang="en-US" sz="1400" dirty="0"/>
              <a:t>is an utterance considered as an action, such as promising, questioning, or apologizing, and is used to perform a function in communication, not just to say something</a:t>
            </a:r>
            <a:r>
              <a:rPr lang="en-US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Actions we perform through language (not just words).</a:t>
            </a:r>
          </a:p>
          <a:p>
            <a:endParaRPr lang="en-US" sz="1400" dirty="0"/>
          </a:p>
          <a:p>
            <a:r>
              <a:rPr lang="en-US" sz="1400" b="1" dirty="0"/>
              <a:t>Examples: </a:t>
            </a:r>
            <a:r>
              <a:rPr lang="en-US" sz="1400" dirty="0"/>
              <a:t>apologizing, requesting, refusing, thanking. Each message has an intended action (illocution) that affects the listener.</a:t>
            </a:r>
          </a:p>
        </p:txBody>
      </p:sp>
    </p:spTree>
    <p:extLst>
      <p:ext uri="{BB962C8B-B14F-4D97-AF65-F5344CB8AC3E}">
        <p14:creationId xmlns:p14="http://schemas.microsoft.com/office/powerpoint/2010/main" val="106394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C39A5-B94D-D9D5-80EC-C42DE266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AA6E1F-E6D1-F99C-36C7-E8E7F514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Project Aims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E4F04-80A2-E937-EB85-6E3A563FBF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3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48E61C-5553-6FB8-D145-C4E29FC0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does “polite” mean here?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D8C57-88C6-4951-B78E-C00EB034AA8E}"/>
              </a:ext>
            </a:extLst>
          </p:cNvPr>
          <p:cNvSpPr txBox="1"/>
          <p:nvPr/>
        </p:nvSpPr>
        <p:spPr>
          <a:xfrm>
            <a:off x="467544" y="897183"/>
            <a:ext cx="80648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b="1" dirty="0"/>
              <a:t>What is “face”?</a:t>
            </a:r>
            <a:br>
              <a:rPr lang="en-US" sz="1400" dirty="0"/>
            </a:br>
            <a:r>
              <a:rPr lang="en-US" sz="1400" dirty="0"/>
              <a:t>According to </a:t>
            </a:r>
            <a:r>
              <a:rPr lang="en-US" sz="1400" b="1" dirty="0"/>
              <a:t>Brown and Levinson</a:t>
            </a:r>
            <a:r>
              <a:rPr lang="en-US" sz="1400" dirty="0"/>
              <a:t>, </a:t>
            </a:r>
            <a:r>
              <a:rPr lang="en-US" sz="1400" i="1" dirty="0"/>
              <a:t>face</a:t>
            </a:r>
            <a:r>
              <a:rPr lang="en-US" sz="1400" dirty="0"/>
              <a:t> is a person’s social self-image:</a:t>
            </a:r>
          </a:p>
          <a:p>
            <a:endParaRPr lang="en-US" sz="1400" dirty="0"/>
          </a:p>
          <a:p>
            <a:pPr lvl="1"/>
            <a:r>
              <a:rPr lang="en-US" sz="1400" b="1" dirty="0"/>
              <a:t>Positive face:</a:t>
            </a:r>
            <a:r>
              <a:rPr lang="en-US" sz="1400" dirty="0"/>
              <a:t> the desire to feel valued, acknowledged, and respected</a:t>
            </a:r>
          </a:p>
          <a:p>
            <a:pPr lvl="1"/>
            <a:r>
              <a:rPr lang="en-US" sz="1400" b="1" dirty="0"/>
              <a:t>Negative face:</a:t>
            </a:r>
            <a:r>
              <a:rPr lang="en-US" sz="1400" dirty="0"/>
              <a:t> the desire to have autonomy and not be pressured</a:t>
            </a:r>
          </a:p>
          <a:p>
            <a:endParaRPr lang="en-US" sz="1400" dirty="0"/>
          </a:p>
          <a:p>
            <a:r>
              <a:rPr lang="en-US" sz="1400" b="1" dirty="0"/>
              <a:t>What is “politeness”?</a:t>
            </a:r>
          </a:p>
          <a:p>
            <a:br>
              <a:rPr lang="en-US" sz="1400" dirty="0"/>
            </a:br>
            <a:r>
              <a:rPr lang="en-US" sz="1400" dirty="0"/>
              <a:t>Politeness is the set of language strategies used to protect these two needs—by showing empathy, apologizing when necessary, using softeners, and giving guidance in a non-imposing way. This reduces face-threat and maintains cooperation.</a:t>
            </a:r>
          </a:p>
        </p:txBody>
      </p:sp>
    </p:spTree>
    <p:extLst>
      <p:ext uri="{BB962C8B-B14F-4D97-AF65-F5344CB8AC3E}">
        <p14:creationId xmlns:p14="http://schemas.microsoft.com/office/powerpoint/2010/main" val="94872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7195D39-2D28-0541-B877-8B86096ACC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9401" y="4752000"/>
            <a:ext cx="6300000" cy="108000"/>
          </a:xfrm>
        </p:spPr>
        <p:txBody>
          <a:bodyPr/>
          <a:lstStyle/>
          <a:p>
            <a:r>
              <a:rPr lang="de-DE" dirty="0"/>
              <a:t>Titel | Can Chatbot Be Polite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2CDF4C6-80FC-F84F-BC98-EF26462113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4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ED3D156-356A-454B-8D17-D7D462E1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8136448" cy="468000"/>
          </a:xfrm>
        </p:spPr>
        <p:txBody>
          <a:bodyPr/>
          <a:lstStyle/>
          <a:p>
            <a:r>
              <a:rPr lang="en-US" dirty="0"/>
              <a:t>“Why Should a Customer Service Chatbot Be Polite?”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5AFE0-57C2-ECFA-2462-593041F7809E}"/>
              </a:ext>
            </a:extLst>
          </p:cNvPr>
          <p:cNvSpPr txBox="1"/>
          <p:nvPr/>
        </p:nvSpPr>
        <p:spPr>
          <a:xfrm>
            <a:off x="542774" y="1021907"/>
            <a:ext cx="784565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“$75 billion lost per year due to poor customer service - much of it from robotic, impolite chatbot AI.”</a:t>
            </a:r>
            <a:r>
              <a:rPr lang="en-US" altLang="en-US" sz="1200" i="1" dirty="0">
                <a:latin typeface="Arial" panose="020B0604020202020204" pitchFamily="34" charset="0"/>
              </a:rPr>
              <a:t> </a:t>
            </a:r>
            <a:r>
              <a:rPr lang="en-US" altLang="en-US" sz="1400" i="1" dirty="0">
                <a:latin typeface="Arial" panose="020B0604020202020204" pitchFamily="34" charset="0"/>
              </a:rPr>
              <a:t>(Source: Glance/Accenture)</a:t>
            </a:r>
            <a:endParaRPr lang="en-GB" sz="14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9F6EFFC-A332-62DB-9536-DB13A477D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80" y="3441971"/>
            <a:ext cx="309634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“Even a simple apology can reduce customer churn by up to 67%.”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(Source: Glance/Accenture)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72F66-F4D5-039C-2C68-A855BA6DFAFE}"/>
              </a:ext>
            </a:extLst>
          </p:cNvPr>
          <p:cNvSpPr txBox="1"/>
          <p:nvPr/>
        </p:nvSpPr>
        <p:spPr>
          <a:xfrm>
            <a:off x="581786" y="1687645"/>
            <a:ext cx="4206238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400" dirty="0"/>
              <a:t>Protects the user’s “face” (Brown &amp; Levinson) by softening refusals, limits, and corrections</a:t>
            </a:r>
          </a:p>
          <a:p>
            <a:pPr marL="228600" indent="-228600">
              <a:buFont typeface="+mj-lt"/>
              <a:buAutoNum type="arabicPeriod"/>
            </a:pPr>
            <a:endParaRPr lang="en-US" sz="1400" dirty="0"/>
          </a:p>
          <a:p>
            <a:pPr marL="228600" indent="-228600">
              <a:buFont typeface="+mj-lt"/>
              <a:buAutoNum type="arabicPeriod"/>
            </a:pPr>
            <a:r>
              <a:rPr lang="en-US" sz="1400" dirty="0"/>
              <a:t>Builds trust and patience in the interaction</a:t>
            </a:r>
          </a:p>
          <a:p>
            <a:pPr marL="228600" indent="-228600">
              <a:buFont typeface="+mj-lt"/>
              <a:buAutoNum type="arabicPeriod"/>
            </a:pPr>
            <a:endParaRPr lang="en-US" sz="1400" dirty="0"/>
          </a:p>
          <a:p>
            <a:pPr marL="228600" indent="-228600">
              <a:buFont typeface="+mj-lt"/>
              <a:buAutoNum type="arabicPeriod"/>
            </a:pPr>
            <a:r>
              <a:rPr lang="en-US" sz="1400" dirty="0"/>
              <a:t>Keeps users engaged longer -&gt; increases willingness to follow instructions</a:t>
            </a:r>
          </a:p>
          <a:p>
            <a:pPr marL="228600" indent="-228600">
              <a:buFont typeface="+mj-lt"/>
              <a:buAutoNum type="arabicPeriod"/>
            </a:pPr>
            <a:endParaRPr lang="en-US" sz="1400" dirty="0"/>
          </a:p>
          <a:p>
            <a:pPr marL="228600" indent="-228600">
              <a:buFont typeface="+mj-lt"/>
              <a:buAutoNum type="arabicPeriod"/>
            </a:pPr>
            <a:r>
              <a:rPr lang="en-US" sz="1400" dirty="0"/>
              <a:t>Improves recovery after bad news: brief apology + clear next step reduces frustration and escalation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3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B887AAE5-9864-7CAC-2C39-F923F980F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249" y="1410735"/>
            <a:ext cx="2716073" cy="203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23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E7281-ABBC-8D5F-5B83-A9B1CFBF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4D8072-50E2-5E06-6391-A6A22AF254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Project Aims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E6DB35-4536-9EE0-76C7-2C49680045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5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5D44FE-8042-310C-764C-DBF63B4B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aims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7A701-B974-6D4B-7097-A3A22BBA9502}"/>
              </a:ext>
            </a:extLst>
          </p:cNvPr>
          <p:cNvSpPr txBox="1"/>
          <p:nvPr/>
        </p:nvSpPr>
        <p:spPr>
          <a:xfrm>
            <a:off x="450000" y="1563638"/>
            <a:ext cx="7524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is this project about?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Compare linguistic strategies (apologies, hedging, empathy, tone) between two 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Determine whether these linguistic choices enhance users’ satisfaction, clarity, and cooperation.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5982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1C71-A28A-A2B7-3D5B-96230979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58D871-C055-DE91-7B74-7384E79FC6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11656" y="4471486"/>
            <a:ext cx="6300000" cy="718120"/>
          </a:xfrm>
        </p:spPr>
        <p:txBody>
          <a:bodyPr/>
          <a:lstStyle/>
          <a:p>
            <a:r>
              <a:rPr lang="de-DE" dirty="0"/>
              <a:t>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CE0E8D-A1AC-5EDD-EAF2-84DF51DAC2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15656" y="4471486"/>
            <a:ext cx="252000" cy="718120"/>
          </a:xfrm>
        </p:spPr>
        <p:txBody>
          <a:bodyPr/>
          <a:lstStyle/>
          <a:p>
            <a:fld id="{6C8FC03C-C266-4645-ABC5-645062898383}" type="slidenum">
              <a:rPr lang="de-DE" smtClean="0"/>
              <a:pPr/>
              <a:t>6</a:t>
            </a:fld>
            <a:r>
              <a:rPr lang="de-DE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8313B-0D7F-5D94-1F44-CB68E2F9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005358" cy="3111854"/>
          </a:xfrm>
        </p:spPr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71CA11F-AF4B-108B-E65A-6AF6FB5FA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0" y="1489889"/>
            <a:ext cx="851448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Question: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replies from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 in perceived: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 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Politeness (PI)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 (CSAT)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Helpfulness/Clarity (HL)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(CMP)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Design: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Matched-pair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comparison within the same prompt; brand identities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resentation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ignored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design to isolate content effects. In short, </a:t>
            </a:r>
            <a:r>
              <a:rPr lang="en-US" altLang="en-US" sz="1400" dirty="0">
                <a:latin typeface="Arial" panose="020B0604020202020204" pitchFamily="34" charset="0"/>
              </a:rPr>
              <a:t>30 identical prompts will be used across 2 bots, combined 60 prompts as the result.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63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D08CB-0A22-F246-6BA1-62775B75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4FFB95-E9E4-84C0-3B20-F18173836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11656" y="4471486"/>
            <a:ext cx="6300000" cy="718120"/>
          </a:xfrm>
        </p:spPr>
        <p:txBody>
          <a:bodyPr/>
          <a:lstStyle/>
          <a:p>
            <a:r>
              <a:rPr lang="de-DE" dirty="0"/>
              <a:t>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5A5C7-4BB0-8FC4-3053-46E211A0CF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15656" y="4471486"/>
            <a:ext cx="252000" cy="718120"/>
          </a:xfrm>
        </p:spPr>
        <p:txBody>
          <a:bodyPr/>
          <a:lstStyle/>
          <a:p>
            <a:fld id="{6C8FC03C-C266-4645-ABC5-645062898383}" type="slidenum">
              <a:rPr lang="de-DE" smtClean="0"/>
              <a:pPr/>
              <a:t>7</a:t>
            </a:fld>
            <a:r>
              <a:rPr lang="de-DE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C43925-7093-D17F-9D59-166CC88B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005358" cy="3111854"/>
          </a:xfrm>
        </p:spPr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B3969831-4CC9-7048-EBBA-2CA057560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0" y="1274446"/>
            <a:ext cx="851448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 (measurement):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short, anonymized survey gathers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1–5 human ratings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four outcomes. Each reply is rated by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people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scores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stability and reduce noise.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Theory &amp; tags:</a:t>
            </a:r>
            <a:r>
              <a:rPr kumimoji="0" lang="en-US" altLang="en-US" sz="1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r>
              <a:rPr lang="en-US" sz="1400" dirty="0"/>
              <a:t>Guided by </a:t>
            </a:r>
            <a:r>
              <a:rPr lang="en-US" sz="1400" b="1" dirty="0"/>
              <a:t>Brown &amp; Levinson’s politeness theory</a:t>
            </a:r>
            <a:r>
              <a:rPr lang="en-US" sz="1400" dirty="0"/>
              <a:t>, each reply is assigned </a:t>
            </a:r>
            <a:r>
              <a:rPr lang="en-US" sz="1400" b="1" dirty="0"/>
              <a:t>one rule-based tag</a:t>
            </a:r>
            <a:r>
              <a:rPr lang="en-US" sz="1400" dirty="0"/>
              <a:t> that captures its main politeness strategy:</a:t>
            </a:r>
          </a:p>
          <a:p>
            <a:endParaRPr lang="en-US" sz="1400" dirty="0"/>
          </a:p>
          <a:p>
            <a:r>
              <a:rPr lang="en-US" sz="1400" b="1" dirty="0"/>
              <a:t>Empathy/Gratitude</a:t>
            </a:r>
            <a:r>
              <a:rPr lang="en-US" sz="1400" dirty="0"/>
              <a:t>, </a:t>
            </a:r>
            <a:r>
              <a:rPr lang="en-US" sz="1400" b="1" dirty="0"/>
              <a:t>Apology</a:t>
            </a:r>
            <a:r>
              <a:rPr lang="en-US" sz="1400" dirty="0"/>
              <a:t>, </a:t>
            </a:r>
            <a:r>
              <a:rPr lang="en-US" sz="1400" b="1" dirty="0"/>
              <a:t>Positive Flexibility</a:t>
            </a:r>
            <a:r>
              <a:rPr lang="en-US" sz="1400" dirty="0"/>
              <a:t>, </a:t>
            </a:r>
            <a:r>
              <a:rPr lang="en-US" sz="1400" b="1" dirty="0"/>
              <a:t>Mitigation/Hedging</a:t>
            </a:r>
            <a:r>
              <a:rPr lang="en-US" sz="1400" dirty="0"/>
              <a:t>, </a:t>
            </a:r>
            <a:r>
              <a:rPr lang="en-US" sz="1400" b="1" dirty="0"/>
              <a:t>Refusal-Minus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with </a:t>
            </a:r>
            <a:r>
              <a:rPr lang="en-US" sz="1400" b="1" dirty="0"/>
              <a:t>General</a:t>
            </a:r>
            <a:r>
              <a:rPr lang="en-US" sz="1400" dirty="0"/>
              <a:t> as the fallback category.</a:t>
            </a:r>
          </a:p>
        </p:txBody>
      </p:sp>
    </p:spTree>
    <p:extLst>
      <p:ext uri="{BB962C8B-B14F-4D97-AF65-F5344CB8AC3E}">
        <p14:creationId xmlns:p14="http://schemas.microsoft.com/office/powerpoint/2010/main" val="26092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8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tools </a:t>
            </a:r>
          </a:p>
        </p:txBody>
      </p:sp>
      <p:pic>
        <p:nvPicPr>
          <p:cNvPr id="3074" name="Picture 2" descr="LF AI &amp; Data Landscape">
            <a:extLst>
              <a:ext uri="{FF2B5EF4-FFF2-40B4-BE49-F238E27FC236}">
                <a16:creationId xmlns:a16="http://schemas.microsoft.com/office/drawing/2014/main" id="{8C3047CE-6A7B-B96F-E85E-563857501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00" y="915566"/>
            <a:ext cx="184785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JupyterLab | CS3MESH4EOSC">
            <a:extLst>
              <a:ext uri="{FF2B5EF4-FFF2-40B4-BE49-F238E27FC236}">
                <a16:creationId xmlns:a16="http://schemas.microsoft.com/office/drawing/2014/main" id="{8A246C3F-B781-F6CE-69A6-BF2E5C6B4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057" y="1140147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Python Logo, symbol, meaning, history, PNG, brand">
            <a:extLst>
              <a:ext uri="{FF2B5EF4-FFF2-40B4-BE49-F238E27FC236}">
                <a16:creationId xmlns:a16="http://schemas.microsoft.com/office/drawing/2014/main" id="{92F58648-F119-E4BE-D1E0-AC66B3304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491630"/>
            <a:ext cx="2529858" cy="142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hlinkClick r:id="rId5" action="ppaction://hlinksldjump"/>
            <a:extLst>
              <a:ext uri="{FF2B5EF4-FFF2-40B4-BE49-F238E27FC236}">
                <a16:creationId xmlns:a16="http://schemas.microsoft.com/office/drawing/2014/main" id="{10D66951-E9F4-25EB-04B1-EAF0F2CD940E}"/>
              </a:ext>
            </a:extLst>
          </p:cNvPr>
          <p:cNvSpPr txBox="1"/>
          <p:nvPr/>
        </p:nvSpPr>
        <p:spPr>
          <a:xfrm>
            <a:off x="468000" y="3668213"/>
            <a:ext cx="82804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Primary workspaces: </a:t>
            </a:r>
            <a:r>
              <a:rPr lang="en-US" b="1" dirty="0" err="1"/>
              <a:t>JupyterLab</a:t>
            </a:r>
            <a:r>
              <a:rPr lang="en-US" b="1" dirty="0"/>
              <a:t> + Python</a:t>
            </a:r>
            <a:r>
              <a:rPr lang="en-US" dirty="0"/>
              <a:t> for cleaning, preprocessing, and analysis; </a:t>
            </a:r>
            <a:r>
              <a:rPr lang="en-US" b="1" dirty="0"/>
              <a:t>Label Studio</a:t>
            </a:r>
            <a:r>
              <a:rPr lang="en-US" dirty="0"/>
              <a:t> for rule-based tagging and QC.</a:t>
            </a:r>
          </a:p>
        </p:txBody>
      </p:sp>
    </p:spTree>
    <p:extLst>
      <p:ext uri="{BB962C8B-B14F-4D97-AF65-F5344CB8AC3E}">
        <p14:creationId xmlns:p14="http://schemas.microsoft.com/office/powerpoint/2010/main" val="273148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9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Workflow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F85E854-E170-A7A3-855B-213131D3E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056" y="633046"/>
            <a:ext cx="6373887" cy="417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hlinkClick r:id="rId3" action="ppaction://hlinksldjump"/>
            <a:extLst>
              <a:ext uri="{FF2B5EF4-FFF2-40B4-BE49-F238E27FC236}">
                <a16:creationId xmlns:a16="http://schemas.microsoft.com/office/drawing/2014/main" id="{BE498B88-FA0F-4866-5461-36A11C9A26DD}"/>
              </a:ext>
            </a:extLst>
          </p:cNvPr>
          <p:cNvSpPr/>
          <p:nvPr/>
        </p:nvSpPr>
        <p:spPr>
          <a:xfrm>
            <a:off x="5639846" y="3709618"/>
            <a:ext cx="468000" cy="468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hlinkClick r:id="rId4" action="ppaction://hlinksldjump"/>
            <a:extLst>
              <a:ext uri="{FF2B5EF4-FFF2-40B4-BE49-F238E27FC236}">
                <a16:creationId xmlns:a16="http://schemas.microsoft.com/office/drawing/2014/main" id="{2619059B-C0A2-A3D1-C886-9C634BBC08B0}"/>
              </a:ext>
            </a:extLst>
          </p:cNvPr>
          <p:cNvSpPr/>
          <p:nvPr/>
        </p:nvSpPr>
        <p:spPr>
          <a:xfrm>
            <a:off x="2915816" y="3048230"/>
            <a:ext cx="576064" cy="57606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hlinkClick r:id="rId5" action="ppaction://hlinksldjump"/>
            <a:extLst>
              <a:ext uri="{FF2B5EF4-FFF2-40B4-BE49-F238E27FC236}">
                <a16:creationId xmlns:a16="http://schemas.microsoft.com/office/drawing/2014/main" id="{02EDE192-A07A-6B71-E5BC-D1E8711996AB}"/>
              </a:ext>
            </a:extLst>
          </p:cNvPr>
          <p:cNvSpPr/>
          <p:nvPr/>
        </p:nvSpPr>
        <p:spPr>
          <a:xfrm>
            <a:off x="5646622" y="2487154"/>
            <a:ext cx="468000" cy="468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hlinkClick r:id="rId6" action="ppaction://hlinksldjump"/>
            <a:extLst>
              <a:ext uri="{FF2B5EF4-FFF2-40B4-BE49-F238E27FC236}">
                <a16:creationId xmlns:a16="http://schemas.microsoft.com/office/drawing/2014/main" id="{87F3E3C1-E2CA-9153-C83C-0E909ABEE429}"/>
              </a:ext>
            </a:extLst>
          </p:cNvPr>
          <p:cNvSpPr/>
          <p:nvPr/>
        </p:nvSpPr>
        <p:spPr>
          <a:xfrm>
            <a:off x="3001014" y="1913876"/>
            <a:ext cx="468000" cy="468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7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10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Collect &amp; Prepare (Prompts -&gt; Reply Pairs)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CA667D3-D824-9BCE-DF8B-F8DAE377C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0" y="1633905"/>
            <a:ext cx="7704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prepared: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 prompts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gathered; each has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masked replies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120 reply texts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 &amp; pairing: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 normalized and deduplicated; every prompt kept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exactly two replies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 mismatches).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 for joins: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item carries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plus a simple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label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(used later to link tags ↔ ratings).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62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0CA2A-B2DC-B478-F74D-BB8BFE2F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2839E-7187-FF7C-2FD1-F7AE4E0F2D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FA7438-828D-2401-A06E-D2698E3C50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11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85BC66-81D8-0B88-D5A7-6E3481CE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Collect &amp; Prepare (Prompts -&gt; Reply Pairs)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98D9709-B6CC-4EE7-564C-0194D6732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00" y="1633905"/>
            <a:ext cx="7704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build (workspace):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120 reply-level tasks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 Studio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(prompt + one reply per task).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Pre-tag setup: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Tagbook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v1.1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loaded for deterministic pre-tags; quick human review to confirm coverage.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Shadish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Cook, &amp; Campbell, 2002).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tools: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JupyterLab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text cleaning/QA;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 Studio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task review.</a:t>
            </a:r>
          </a:p>
        </p:txBody>
      </p:sp>
    </p:spTree>
    <p:extLst>
      <p:ext uri="{BB962C8B-B14F-4D97-AF65-F5344CB8AC3E}">
        <p14:creationId xmlns:p14="http://schemas.microsoft.com/office/powerpoint/2010/main" val="1746392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12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 &amp; Prepare</a:t>
            </a:r>
          </a:p>
        </p:txBody>
      </p:sp>
      <p:pic>
        <p:nvPicPr>
          <p:cNvPr id="5122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99CC9FAE-5516-0119-CA77-432322C3E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87788"/>
            <a:ext cx="4320480" cy="426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126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6F4E-F1B6-43ED-5E75-372BD505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51F13A-56FA-224C-30CF-B6D8931365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341FDD-1FD1-8559-99B7-0769606274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13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3D67F6-90DC-A28A-00C4-601F4071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27347"/>
            <a:ext cx="7848416" cy="468000"/>
          </a:xfrm>
        </p:spPr>
        <p:txBody>
          <a:bodyPr/>
          <a:lstStyle/>
          <a:p>
            <a:r>
              <a:rPr lang="en-US" dirty="0"/>
              <a:t>2. Tag Setup and rule-based tagging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E5B13F4-AC35-80B1-C2DE-EA3E482F3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00" y="1095299"/>
            <a:ext cx="766840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What tags are:</a:t>
            </a:r>
            <a:br>
              <a:rPr lang="en-US" sz="1400" dirty="0"/>
            </a:br>
            <a:r>
              <a:rPr lang="en-US" sz="1400" dirty="0"/>
              <a:t>Short labels (T01–T06) that describe the </a:t>
            </a:r>
            <a:r>
              <a:rPr lang="en-US" sz="1400" i="1" dirty="0"/>
              <a:t>type of politeness strategy</a:t>
            </a:r>
            <a:r>
              <a:rPr lang="en-US" sz="1400" dirty="0"/>
              <a:t> in a reply</a:t>
            </a:r>
            <a:br>
              <a:rPr lang="en-US" sz="1400" dirty="0"/>
            </a:br>
            <a:r>
              <a:rPr lang="en-US" sz="1400" dirty="0"/>
              <a:t>(e.g., Empathy, Apology, Hedging, Refusal).</a:t>
            </a:r>
          </a:p>
          <a:p>
            <a:endParaRPr lang="en-US" sz="1400" dirty="0"/>
          </a:p>
          <a:p>
            <a:r>
              <a:rPr lang="en-US" sz="1400" b="1" dirty="0"/>
              <a:t>Why we need them:</a:t>
            </a:r>
            <a:br>
              <a:rPr lang="en-US" sz="1400" dirty="0"/>
            </a:br>
            <a:r>
              <a:rPr lang="en-US" sz="1400" dirty="0"/>
              <a:t>Tags turn the reply’s wording into </a:t>
            </a:r>
            <a:r>
              <a:rPr lang="en-US" sz="1400" b="1" dirty="0"/>
              <a:t>structured data</a:t>
            </a:r>
            <a:r>
              <a:rPr lang="en-US" sz="1400" dirty="0"/>
              <a:t>, so we can compare replies using statistics instead of opinions.</a:t>
            </a:r>
          </a:p>
          <a:p>
            <a:endParaRPr lang="en-US" sz="1400" dirty="0"/>
          </a:p>
          <a:p>
            <a:r>
              <a:rPr lang="en-US" sz="1400" b="1" dirty="0"/>
              <a:t>What they help us do:</a:t>
            </a:r>
            <a:br>
              <a:rPr lang="en-US" sz="1400" dirty="0"/>
            </a:br>
            <a:r>
              <a:rPr lang="en-US" sz="1400" dirty="0"/>
              <a:t>By linking each tag to human ratings, we can see </a:t>
            </a:r>
            <a:r>
              <a:rPr lang="en-US" sz="1400" b="1" dirty="0"/>
              <a:t>which strategies are associated with higher or lower politeness</a:t>
            </a:r>
            <a:r>
              <a:rPr lang="en-US" sz="1400" dirty="0"/>
              <a:t>.</a:t>
            </a:r>
          </a:p>
          <a:p>
            <a:br>
              <a:rPr lang="en-US" sz="1400" dirty="0"/>
            </a:br>
            <a:r>
              <a:rPr lang="en-US" sz="1400" dirty="0"/>
              <a:t>This shows patterns, but </a:t>
            </a:r>
            <a:r>
              <a:rPr lang="en-US" sz="1400" b="1" dirty="0"/>
              <a:t>not causation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8975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14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27347"/>
            <a:ext cx="7848416" cy="468000"/>
          </a:xfrm>
        </p:spPr>
        <p:txBody>
          <a:bodyPr/>
          <a:lstStyle/>
          <a:p>
            <a:r>
              <a:rPr lang="en-US" dirty="0"/>
              <a:t>2. Tag Setup and rule-based tagging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849D426-F7ED-A77F-4A20-C895CA07F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00" y="987577"/>
            <a:ext cx="766840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gets tagged: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reply receives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label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best describes its wording: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Empathy/Gratitude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(shows care/thanks),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Apology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(clear sorry),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Positive-Flexibility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(offers options/next step),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Mitigation/Hedging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(softens with “might/usually/if possible”),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Refusal-Minus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(plain no/policy block)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(none of the above).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(Brown &amp; Levinson, 1987).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45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15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Tag Setup -&gt; Label Studio (Prediction -&gt; Final Tags)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22EBAF-3B0A-3E0F-2BEE-091680B89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454174"/>
            <a:ext cx="439248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the rules are built (in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JupyterLab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 turn the theory into simple pattern rules and make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rule tag book.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prediction Label Studio: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prompt and reply csv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the rule tag 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 can process with </a:t>
            </a:r>
            <a:r>
              <a:rPr lang="en-US" altLang="en-US" sz="1400" dirty="0" err="1">
                <a:latin typeface="Arial" panose="020B0604020202020204" pitchFamily="34" charset="0"/>
              </a:rPr>
              <a:t>J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upyter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</a:rPr>
              <a:t>lab to turn them into </a:t>
            </a:r>
            <a:r>
              <a:rPr lang="en-US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a JSON file </a:t>
            </a:r>
            <a:r>
              <a:rPr lang="en-US" altLang="en-US" sz="1400" dirty="0">
                <a:latin typeface="Arial" panose="020B0604020202020204" pitchFamily="34" charset="0"/>
              </a:rPr>
              <a:t>ready as an input for </a:t>
            </a:r>
            <a:r>
              <a:rPr lang="en-US" altLang="en-US" sz="1400" b="1" dirty="0">
                <a:latin typeface="Arial" panose="020B0604020202020204" pitchFamily="34" charset="0"/>
              </a:rPr>
              <a:t>Label Studio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check and handoff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2" name="Picture 4">
            <a:hlinkClick r:id="rId2" action="ppaction://hlinksldjump"/>
            <a:extLst>
              <a:ext uri="{FF2B5EF4-FFF2-40B4-BE49-F238E27FC236}">
                <a16:creationId xmlns:a16="http://schemas.microsoft.com/office/drawing/2014/main" id="{6A8CF0AD-9FBB-9E4D-50FF-E9C52A062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864000"/>
            <a:ext cx="4117947" cy="357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520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16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27347"/>
            <a:ext cx="7848416" cy="468000"/>
          </a:xfrm>
        </p:spPr>
        <p:txBody>
          <a:bodyPr/>
          <a:lstStyle/>
          <a:p>
            <a:r>
              <a:rPr lang="en-US" dirty="0"/>
              <a:t>3. Ratings Survey: outcomes, setup, and data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570C9BA-A872-50F4-CF9C-ED6687392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36" y="889684"/>
            <a:ext cx="823906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+mj-lt"/>
              </a:rPr>
              <a:t>How many prompts?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5 selected prompts (from a pool of 60)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What participants saw: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Each prompt showed </a:t>
            </a:r>
            <a:r>
              <a:rPr lang="en-US" sz="1400" b="1" dirty="0">
                <a:latin typeface="+mj-lt"/>
              </a:rPr>
              <a:t>two masked replies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-&gt; one from Chatbot A, one from Chatbot B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What they rated: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4 items per reply (PI, CSAT, HL, CMP)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-&gt; </a:t>
            </a:r>
            <a:r>
              <a:rPr lang="en-US" sz="1400" b="1" dirty="0">
                <a:latin typeface="+mj-lt"/>
              </a:rPr>
              <a:t>40 total rating questions</a:t>
            </a:r>
            <a:r>
              <a:rPr lang="en-US" sz="1400" dirty="0">
                <a:latin typeface="+mj-lt"/>
              </a:rPr>
              <a:t> (5 × 2 × 4)</a:t>
            </a:r>
          </a:p>
          <a:p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Why these 5 prompts?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Chosen to cover common customer issues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(damaged item, missing package, returns, address change, escalations)</a:t>
            </a:r>
          </a:p>
          <a:p>
            <a:r>
              <a:rPr lang="en-US" sz="1400" b="1" dirty="0">
                <a:latin typeface="+mj-lt"/>
              </a:rPr>
              <a:t>Survey platform:</a:t>
            </a:r>
            <a:br>
              <a:rPr lang="en-US" sz="1400" dirty="0">
                <a:latin typeface="+mj-lt"/>
              </a:rPr>
            </a:br>
            <a:r>
              <a:rPr lang="en-US" sz="1400" dirty="0">
                <a:latin typeface="+mj-lt"/>
              </a:rPr>
              <a:t>Google 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4803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BDDE-AD3E-7F8E-CF13-B39E6448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79AE61-02FE-F0D6-C9ED-71BB79C720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0FF230-92D5-F7F0-56CF-7617650CA7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17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A36314-4CD4-9AE4-C280-534B493E6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27347"/>
            <a:ext cx="7848416" cy="468000"/>
          </a:xfrm>
        </p:spPr>
        <p:txBody>
          <a:bodyPr/>
          <a:lstStyle/>
          <a:p>
            <a:r>
              <a:rPr lang="en-US" dirty="0"/>
              <a:t>3. Survey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F6CA23-CD58-E460-F073-FB0C55FC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886154"/>
            <a:ext cx="4136680" cy="16561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60081F-AFE1-34D1-0F6F-DF679BB9EA06}"/>
              </a:ext>
            </a:extLst>
          </p:cNvPr>
          <p:cNvSpPr txBox="1"/>
          <p:nvPr/>
        </p:nvSpPr>
        <p:spPr>
          <a:xfrm>
            <a:off x="720000" y="2733146"/>
            <a:ext cx="7621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Extra item:</a:t>
            </a:r>
            <a:r>
              <a:rPr lang="en-US" dirty="0"/>
              <a:t> </a:t>
            </a:r>
            <a:r>
              <a:rPr lang="en-US" b="1" dirty="0"/>
              <a:t>“Is English your first language?”</a:t>
            </a:r>
            <a:r>
              <a:rPr lang="en-US" dirty="0"/>
              <a:t> (Yes/No).</a:t>
            </a:r>
            <a:br>
              <a:rPr lang="en-US" dirty="0"/>
            </a:br>
            <a:r>
              <a:rPr lang="en-US" b="1" dirty="0"/>
              <a:t>Why include it:</a:t>
            </a:r>
            <a:r>
              <a:rPr lang="en-US" dirty="0"/>
              <a:t> to check for possible </a:t>
            </a:r>
            <a:r>
              <a:rPr lang="en-US" b="1" dirty="0"/>
              <a:t>perception bias</a:t>
            </a:r>
            <a:r>
              <a:rPr lang="en-US" dirty="0"/>
              <a:t> (e.g., different use of the 1–5 scale or different sensitivity to tone). It is </a:t>
            </a:r>
            <a:r>
              <a:rPr lang="en-US" b="1" dirty="0"/>
              <a:t>not</a:t>
            </a:r>
            <a:r>
              <a:rPr lang="en-US" dirty="0"/>
              <a:t> used to change scores; it supports </a:t>
            </a:r>
            <a:r>
              <a:rPr lang="en-US" b="1" dirty="0"/>
              <a:t>subgroup or robustness checks</a:t>
            </a:r>
            <a:r>
              <a:rPr lang="en-US" dirty="0"/>
              <a:t> only.</a:t>
            </a:r>
          </a:p>
        </p:txBody>
      </p:sp>
    </p:spTree>
    <p:extLst>
      <p:ext uri="{BB962C8B-B14F-4D97-AF65-F5344CB8AC3E}">
        <p14:creationId xmlns:p14="http://schemas.microsoft.com/office/powerpoint/2010/main" val="238306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18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27347"/>
            <a:ext cx="7848416" cy="468000"/>
          </a:xfrm>
        </p:spPr>
        <p:txBody>
          <a:bodyPr/>
          <a:lstStyle/>
          <a:p>
            <a:r>
              <a:rPr lang="en-US" dirty="0"/>
              <a:t>Expected grade outcomes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85E9C2B-0C69-7F90-E094-EC12D8B22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24" y="1240461"/>
            <a:ext cx="537672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PI – Politeness</a:t>
            </a:r>
            <a:br>
              <a:rPr lang="en-US" sz="1400" dirty="0"/>
            </a:br>
            <a:r>
              <a:rPr lang="en-US" sz="1400" dirty="0"/>
              <a:t>How respectful, tactful, and face-saving the reply sounds.</a:t>
            </a:r>
          </a:p>
          <a:p>
            <a:endParaRPr lang="en-US" sz="1400" dirty="0"/>
          </a:p>
          <a:p>
            <a:r>
              <a:rPr lang="en-US" sz="1400" b="1" dirty="0"/>
              <a:t>CSAT – Satisfaction</a:t>
            </a:r>
            <a:br>
              <a:rPr lang="en-US" sz="1400" dirty="0"/>
            </a:br>
            <a:r>
              <a:rPr lang="en-US" sz="1400" dirty="0"/>
              <a:t>How satisfied the reader feels after reading the reply.</a:t>
            </a:r>
          </a:p>
          <a:p>
            <a:endParaRPr lang="en-US" sz="1400" dirty="0"/>
          </a:p>
          <a:p>
            <a:r>
              <a:rPr lang="en-US" sz="1400" b="1" dirty="0"/>
              <a:t>HL – Helpfulness / Clarity</a:t>
            </a:r>
            <a:br>
              <a:rPr lang="en-US" sz="1400" dirty="0"/>
            </a:br>
            <a:r>
              <a:rPr lang="en-US" sz="1400" dirty="0"/>
              <a:t>How clear, informative, and actionable the reply is.</a:t>
            </a:r>
          </a:p>
          <a:p>
            <a:endParaRPr lang="en-US" sz="1400" dirty="0"/>
          </a:p>
          <a:p>
            <a:r>
              <a:rPr lang="en-US" sz="1400" b="1" dirty="0"/>
              <a:t>CMP – Compliance Intention</a:t>
            </a:r>
            <a:br>
              <a:rPr lang="en-US" sz="1400" dirty="0"/>
            </a:br>
            <a:r>
              <a:rPr lang="en-US" sz="1400" dirty="0"/>
              <a:t>How likely the reader is to follow the instructions in the reply.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C2B1F-1D23-A761-EE6C-9E8FCC61BF72}"/>
              </a:ext>
            </a:extLst>
          </p:cNvPr>
          <p:cNvSpPr txBox="1"/>
          <p:nvPr/>
        </p:nvSpPr>
        <p:spPr>
          <a:xfrm>
            <a:off x="583178" y="4235030"/>
            <a:ext cx="83813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References:</a:t>
            </a:r>
            <a:r>
              <a:rPr lang="en-US" sz="1100" dirty="0"/>
              <a:t> Brown &amp; Levinson (1987); Parasuraman, Zeithaml, &amp; Berry (1988); ISO 9241-11 (2018); Likert (1932); Oliver (1997).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BF50C-35C9-0987-E9A7-F729FDA9F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790" y="1635646"/>
            <a:ext cx="3248361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43CBBA-AA07-339C-86C3-0CA02939CF4E}"/>
              </a:ext>
            </a:extLst>
          </p:cNvPr>
          <p:cNvSpPr txBox="1"/>
          <p:nvPr/>
        </p:nvSpPr>
        <p:spPr>
          <a:xfrm>
            <a:off x="583178" y="3723878"/>
            <a:ext cx="6643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Quality note: </a:t>
            </a:r>
            <a:r>
              <a:rPr lang="en-US" sz="1000" dirty="0"/>
              <a:t>Sometimes a reverse-coded item (“The reply feels curt or blaming”) replaces the politeness item to reduce bias; it still measures PI. (a score of 5 becomes 1, and a score of 1 becomes 5.)</a:t>
            </a:r>
          </a:p>
        </p:txBody>
      </p:sp>
    </p:spTree>
    <p:extLst>
      <p:ext uri="{BB962C8B-B14F-4D97-AF65-F5344CB8AC3E}">
        <p14:creationId xmlns:p14="http://schemas.microsoft.com/office/powerpoint/2010/main" val="307706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19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Tag and survey used</a:t>
            </a:r>
          </a:p>
        </p:txBody>
      </p:sp>
      <p:sp>
        <p:nvSpPr>
          <p:cNvPr id="5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60D5C3B5-9627-90B3-07CE-1956B4781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00" y="1125201"/>
            <a:ext cx="802844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Before the survey:</a:t>
            </a:r>
            <a:br>
              <a:rPr lang="en-US" sz="1400" dirty="0"/>
            </a:br>
            <a:r>
              <a:rPr lang="en-US" sz="1400" dirty="0"/>
              <a:t>I select prompts that naturally trigger different strategies</a:t>
            </a:r>
            <a:br>
              <a:rPr lang="en-US" sz="1400" dirty="0"/>
            </a:br>
            <a:r>
              <a:rPr lang="en-US" sz="1400" dirty="0"/>
              <a:t>(e.g., apology, empathy, refusal, hedging).</a:t>
            </a:r>
          </a:p>
          <a:p>
            <a:endParaRPr lang="en-US" sz="1400" dirty="0"/>
          </a:p>
          <a:p>
            <a:r>
              <a:rPr lang="en-US" sz="1400" b="1" dirty="0"/>
              <a:t>During the survey:</a:t>
            </a:r>
            <a:br>
              <a:rPr lang="en-US" sz="1400" dirty="0"/>
            </a:br>
            <a:r>
              <a:rPr lang="en-US" sz="1400" dirty="0"/>
              <a:t>Tags are </a:t>
            </a:r>
            <a:r>
              <a:rPr lang="en-US" sz="1400" b="1" dirty="0"/>
              <a:t>not shown</a:t>
            </a:r>
            <a:r>
              <a:rPr lang="en-US" sz="1400" dirty="0"/>
              <a:t> to participants and </a:t>
            </a:r>
            <a:r>
              <a:rPr lang="en-US" sz="1400" b="1" dirty="0"/>
              <a:t>not used</a:t>
            </a:r>
            <a:r>
              <a:rPr lang="en-US" sz="1400" dirty="0"/>
              <a:t> to calculate scores.</a:t>
            </a:r>
          </a:p>
          <a:p>
            <a:endParaRPr lang="en-US" sz="1400" dirty="0"/>
          </a:p>
          <a:p>
            <a:r>
              <a:rPr lang="en-US" sz="1400" b="1" dirty="0"/>
              <a:t>After the survey:</a:t>
            </a:r>
            <a:br>
              <a:rPr lang="en-US" sz="1400" dirty="0"/>
            </a:br>
            <a:r>
              <a:rPr lang="en-US" sz="1400" dirty="0"/>
              <a:t>I link each reply’s </a:t>
            </a:r>
            <a:r>
              <a:rPr lang="en-US" sz="1400" b="1" dirty="0"/>
              <a:t>tag</a:t>
            </a:r>
            <a:r>
              <a:rPr lang="en-US" sz="1400" dirty="0"/>
              <a:t> with its </a:t>
            </a:r>
            <a:r>
              <a:rPr lang="en-US" sz="1400" b="1" dirty="0"/>
              <a:t>PI/CSAT/HL/CMP scores</a:t>
            </a:r>
            <a:r>
              <a:rPr lang="en-US" sz="1400" dirty="0"/>
              <a:t> to see:</a:t>
            </a:r>
          </a:p>
          <a:p>
            <a:r>
              <a:rPr lang="en-US" sz="1400" dirty="0"/>
              <a:t>which strategies are linked to higher politeness or satisfaction</a:t>
            </a:r>
          </a:p>
          <a:p>
            <a:r>
              <a:rPr lang="en-US" sz="1400" dirty="0"/>
              <a:t>which strategies lower clarity or satisfaction</a:t>
            </a:r>
          </a:p>
          <a:p>
            <a:r>
              <a:rPr lang="en-US" sz="1400" dirty="0"/>
              <a:t>what patterns can become practical writing rules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90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20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4. Survey to Data Assets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2457E-17BB-3487-850C-1C78497EFBCE}"/>
              </a:ext>
            </a:extLst>
          </p:cNvPr>
          <p:cNvSpPr txBox="1"/>
          <p:nvPr/>
        </p:nvSpPr>
        <p:spPr>
          <a:xfrm>
            <a:off x="450000" y="1347614"/>
            <a:ext cx="729922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 get from the survey:</a:t>
            </a:r>
            <a:br>
              <a:rPr lang="en-US" dirty="0"/>
            </a:br>
            <a:r>
              <a:rPr lang="en-US" dirty="0"/>
              <a:t>A table of </a:t>
            </a:r>
            <a:r>
              <a:rPr lang="en-US" b="1" dirty="0"/>
              <a:t>numeric ratings</a:t>
            </a:r>
            <a:r>
              <a:rPr lang="en-US" dirty="0"/>
              <a:t> for every reply: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CMP</a:t>
            </a:r>
          </a:p>
          <a:p>
            <a:r>
              <a:rPr lang="en-US" dirty="0"/>
              <a:t>Each rating is linked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whether it was Reply A or Reply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8B547-E944-2234-2E20-6CE9AC59FD9E}"/>
              </a:ext>
            </a:extLst>
          </p:cNvPr>
          <p:cNvSpPr txBox="1"/>
          <p:nvPr/>
        </p:nvSpPr>
        <p:spPr>
          <a:xfrm>
            <a:off x="5004048" y="1347614"/>
            <a:ext cx="319593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 add next:</a:t>
            </a:r>
            <a:br>
              <a:rPr lang="en-US" dirty="0"/>
            </a:br>
            <a:r>
              <a:rPr lang="en-US" dirty="0"/>
              <a:t>I join these scores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reply text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politeness tag</a:t>
            </a:r>
            <a:r>
              <a:rPr lang="en-US" dirty="0"/>
              <a:t> (T01–T06)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reverse-coded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attention-check status</a:t>
            </a:r>
          </a:p>
        </p:txBody>
      </p:sp>
    </p:spTree>
    <p:extLst>
      <p:ext uri="{BB962C8B-B14F-4D97-AF65-F5344CB8AC3E}">
        <p14:creationId xmlns:p14="http://schemas.microsoft.com/office/powerpoint/2010/main" val="1236672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21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Preprocess aggregate example (chatbot amazon participant 17)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5F4E5C-3C28-ACD5-2599-B35ED0775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85930"/>
              </p:ext>
            </p:extLst>
          </p:nvPr>
        </p:nvGraphicFramePr>
        <p:xfrm>
          <a:off x="628650" y="1725930"/>
          <a:ext cx="7886700" cy="169164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75794902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80125900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3383042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75444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participant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reply (Prompt_ID+cond)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construct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8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P07_A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(4+5)/2 = </a:t>
                      </a:r>
                      <a:r>
                        <a:rPr lang="en-US" b="1" dirty="0"/>
                        <a:t>4.5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514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U17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P07_A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3.0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45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P07_A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4.0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56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P07_A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2.0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472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3A437A-8569-A41E-535F-3F50F341D8A9}"/>
              </a:ext>
            </a:extLst>
          </p:cNvPr>
          <p:cNvSpPr txBox="1"/>
          <p:nvPr/>
        </p:nvSpPr>
        <p:spPr>
          <a:xfrm>
            <a:off x="468000" y="3723878"/>
            <a:ext cx="48965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prompt reply showed both PI and CSAT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50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22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Analysis Overview (What I Do With the Data)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10BAFD-A57F-FD61-4CB8-9DE38C7AE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57" y="1192002"/>
            <a:ext cx="391061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 A vs B for each person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every prompt, I subtract A from B -&gt; Delta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Δ = B – 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removes individual rating habits (some people give 5s to everything, some are strict).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the results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Δ across all participants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95% confidence interval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size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(how big the difference 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E652D-7901-9E4D-B6AD-09B256367854}"/>
              </a:ext>
            </a:extLst>
          </p:cNvPr>
          <p:cNvSpPr txBox="1"/>
          <p:nvPr/>
        </p:nvSpPr>
        <p:spPr>
          <a:xfrm>
            <a:off x="4788026" y="1299723"/>
            <a:ext cx="33843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individual prompts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 which prompts show the strongest A–B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tag associations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ratings for replies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tag vs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tag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Does Apology give higher PI?)</a:t>
            </a:r>
          </a:p>
        </p:txBody>
      </p:sp>
    </p:spTree>
    <p:extLst>
      <p:ext uri="{BB962C8B-B14F-4D97-AF65-F5344CB8AC3E}">
        <p14:creationId xmlns:p14="http://schemas.microsoft.com/office/powerpoint/2010/main" val="1086499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0D7C-5211-BBF4-9B0A-0D7DC2AE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D7479E-0DEF-035E-EF59-7BF3EEADC5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11B39B-8C5A-BC84-BDAB-BEA52FAD67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23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46C7DA-5726-43F3-C0ED-DA06339D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198FC-28AC-794A-CE02-9BC2BD284062}"/>
              </a:ext>
            </a:extLst>
          </p:cNvPr>
          <p:cNvSpPr txBox="1"/>
          <p:nvPr/>
        </p:nvSpPr>
        <p:spPr>
          <a:xfrm>
            <a:off x="468000" y="1419622"/>
            <a:ext cx="50401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Interpreting </a:t>
            </a:r>
            <a:r>
              <a:rPr lang="el-GR" sz="1400" b="1" dirty="0"/>
              <a:t>Δ (</a:t>
            </a:r>
            <a:r>
              <a:rPr lang="en-US" sz="1400" b="1" dirty="0"/>
              <a:t>B – A):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400" b="1" dirty="0"/>
              <a:t>Δ &gt; 0</a:t>
            </a:r>
            <a:r>
              <a:rPr lang="el-GR" sz="1400" dirty="0"/>
              <a:t> -&gt; </a:t>
            </a:r>
            <a:r>
              <a:rPr lang="en-US" sz="1400" dirty="0"/>
              <a:t>Chatbot </a:t>
            </a:r>
            <a:r>
              <a:rPr lang="en-US" sz="1400" b="1" dirty="0"/>
              <a:t>B</a:t>
            </a:r>
            <a:r>
              <a:rPr lang="en-US" sz="1400" dirty="0"/>
              <a:t> scored higher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400" b="1" dirty="0"/>
              <a:t>Δ &lt; 0</a:t>
            </a:r>
            <a:r>
              <a:rPr lang="el-GR" sz="1400" dirty="0"/>
              <a:t> -&gt; </a:t>
            </a:r>
            <a:r>
              <a:rPr lang="en-US" sz="1400" dirty="0"/>
              <a:t>Chatbot </a:t>
            </a:r>
            <a:r>
              <a:rPr lang="en-US" sz="1400" b="1" dirty="0"/>
              <a:t>A</a:t>
            </a:r>
            <a:r>
              <a:rPr lang="en-US" sz="1400" dirty="0"/>
              <a:t> scored higher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Confidence interval includes 0</a:t>
            </a: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No reliable difference between A and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Interpreting tag patterns:</a:t>
            </a:r>
            <a:br>
              <a:rPr lang="en-US" sz="1400" dirty="0"/>
            </a:br>
            <a:r>
              <a:rPr lang="en-US" sz="1400" dirty="0"/>
              <a:t>Tags show which politeness strategies are </a:t>
            </a:r>
            <a:r>
              <a:rPr lang="en-US" sz="1400" b="1" dirty="0"/>
              <a:t>linked</a:t>
            </a:r>
            <a:r>
              <a:rPr lang="en-US" sz="1400" dirty="0"/>
              <a:t> to higher or lower</a:t>
            </a:r>
            <a:br>
              <a:rPr lang="en-US" sz="1400" dirty="0"/>
            </a:br>
            <a:r>
              <a:rPr lang="en-US" sz="1400" dirty="0"/>
              <a:t>PI / CSAT / HL / CMP scores.</a:t>
            </a:r>
            <a:br>
              <a:rPr lang="en-US" sz="1400" dirty="0"/>
            </a:br>
            <a:r>
              <a:rPr lang="en-US" sz="1400" dirty="0"/>
              <a:t>(These patterns show </a:t>
            </a:r>
            <a:r>
              <a:rPr lang="en-US" sz="1400" b="1" dirty="0"/>
              <a:t>association</a:t>
            </a:r>
            <a:r>
              <a:rPr lang="en-US" sz="1400" dirty="0"/>
              <a:t>, not causation.)</a:t>
            </a:r>
          </a:p>
          <a:p>
            <a:endParaRPr lang="en-US" sz="1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45B6D5B-2FC6-3916-0977-E41ED3964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627534"/>
            <a:ext cx="3312368" cy="318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370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CC26B1-72BB-E14D-6CA1-B3E7DFECAB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CDA69-534C-EF8A-A9E4-FCC45D442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24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78A107-495A-830B-CAD0-719FCD2E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8280464" cy="468000"/>
          </a:xfrm>
        </p:spPr>
        <p:txBody>
          <a:bodyPr/>
          <a:lstStyle/>
          <a:p>
            <a:r>
              <a:rPr lang="en-US" dirty="0"/>
              <a:t>Why do we check correlation between tags and ratings?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0CC7A-BD64-ED10-1716-08074EB4CF20}"/>
              </a:ext>
            </a:extLst>
          </p:cNvPr>
          <p:cNvSpPr txBox="1"/>
          <p:nvPr/>
        </p:nvSpPr>
        <p:spPr>
          <a:xfrm>
            <a:off x="576000" y="1131590"/>
            <a:ext cx="829927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Because this project is </a:t>
            </a:r>
            <a:r>
              <a:rPr lang="en-US" b="1" dirty="0"/>
              <a:t>not only comparing Chatbot A vs B</a:t>
            </a:r>
            <a:r>
              <a:rPr lang="en-US" dirty="0"/>
              <a:t>, but also trying to understand </a:t>
            </a:r>
            <a:r>
              <a:rPr lang="en-US" b="1" dirty="0"/>
              <a:t>WHY</a:t>
            </a:r>
            <a:r>
              <a:rPr lang="en-US" dirty="0"/>
              <a:t> one reply feels more polite than another. </a:t>
            </a:r>
          </a:p>
          <a:p>
            <a:endParaRPr lang="en-US" dirty="0"/>
          </a:p>
          <a:p>
            <a:r>
              <a:rPr lang="en-US" dirty="0"/>
              <a:t>In order to answer these questions:</a:t>
            </a:r>
          </a:p>
          <a:p>
            <a:endParaRPr lang="en-US" dirty="0"/>
          </a:p>
          <a:p>
            <a:r>
              <a:rPr lang="en-US" b="1" dirty="0"/>
              <a:t>Do these strategies actually matter for human perception?</a:t>
            </a:r>
            <a:br>
              <a:rPr lang="en-US" dirty="0"/>
            </a:br>
            <a:r>
              <a:rPr lang="en-US" b="1" dirty="0"/>
              <a:t>Which strategies increase politeness?</a:t>
            </a:r>
            <a:br>
              <a:rPr lang="en-US" dirty="0"/>
            </a:br>
            <a:r>
              <a:rPr lang="en-US" b="1" dirty="0"/>
              <a:t>Which strategies decrease satisfaction or clarity?</a:t>
            </a:r>
          </a:p>
          <a:p>
            <a:r>
              <a:rPr lang="en-US" b="1" dirty="0"/>
              <a:t>                                    </a:t>
            </a:r>
            <a:endParaRPr lang="en-US" dirty="0"/>
          </a:p>
          <a:p>
            <a:r>
              <a:rPr lang="en-US" dirty="0"/>
              <a:t>Without this step, you only know:</a:t>
            </a:r>
          </a:p>
          <a:p>
            <a:endParaRPr lang="en-US" dirty="0"/>
          </a:p>
          <a:p>
            <a:r>
              <a:rPr lang="en-US" dirty="0"/>
              <a:t>“Chatbot A is more/less polite.”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But you </a:t>
            </a:r>
            <a:r>
              <a:rPr lang="en-US" b="1" dirty="0"/>
              <a:t>don’t know why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336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CBCD-AAB8-FFE7-55DC-37CB4F7E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D3AF48-C95B-4B85-1F0F-FD164B46EB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 Annotation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90E3-7982-F981-FB1C-4A399CA99B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25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512EFA-6DA6-1316-2A07-FD209336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r>
              <a:rPr lang="en-GB" dirty="0"/>
              <a:t>Correlation Between Tags &amp; Ratings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6B05F-2730-A77D-FAF3-AAAA3F14244F}"/>
              </a:ext>
            </a:extLst>
          </p:cNvPr>
          <p:cNvSpPr txBox="1"/>
          <p:nvPr/>
        </p:nvSpPr>
        <p:spPr>
          <a:xfrm>
            <a:off x="450000" y="915566"/>
            <a:ext cx="849648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Join the data</a:t>
            </a:r>
            <a:br>
              <a:rPr lang="en-US" sz="1200" dirty="0"/>
            </a:br>
            <a:r>
              <a:rPr lang="en-US" sz="1200" dirty="0"/>
              <a:t>Match each reply’s </a:t>
            </a:r>
            <a:r>
              <a:rPr lang="en-US" sz="1200" b="1" dirty="0"/>
              <a:t>tag (T01–T06)</a:t>
            </a:r>
            <a:r>
              <a:rPr lang="en-US" sz="1200" dirty="0"/>
              <a:t> with its </a:t>
            </a:r>
            <a:r>
              <a:rPr lang="en-US" sz="1200" b="1" dirty="0"/>
              <a:t>PI/CSAT/HL/CMP scores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b="1" dirty="0"/>
              <a:t>Split into two groups</a:t>
            </a:r>
            <a:br>
              <a:rPr lang="en-US" sz="1200" dirty="0"/>
            </a:br>
            <a:r>
              <a:rPr lang="en-US" sz="1200" dirty="0"/>
              <a:t>Replies </a:t>
            </a:r>
            <a:r>
              <a:rPr lang="en-US" sz="1200" b="1" dirty="0"/>
              <a:t>with</a:t>
            </a:r>
            <a:r>
              <a:rPr lang="en-US" sz="1200" dirty="0"/>
              <a:t> the tag</a:t>
            </a:r>
            <a:br>
              <a:rPr lang="en-US" sz="1200" dirty="0"/>
            </a:br>
            <a:r>
              <a:rPr lang="en-US" sz="1200" dirty="0"/>
              <a:t>Replies </a:t>
            </a:r>
            <a:r>
              <a:rPr lang="en-US" sz="1200" b="1" dirty="0"/>
              <a:t>without</a:t>
            </a:r>
            <a:r>
              <a:rPr lang="en-US" sz="1200" dirty="0"/>
              <a:t> the tag</a:t>
            </a:r>
          </a:p>
          <a:p>
            <a:endParaRPr lang="en-US" sz="1200" dirty="0"/>
          </a:p>
          <a:p>
            <a:r>
              <a:rPr lang="en-US" sz="1200" b="1" dirty="0"/>
              <a:t>Compare the averages</a:t>
            </a:r>
            <a:br>
              <a:rPr lang="en-US" sz="1200" dirty="0"/>
            </a:br>
            <a:r>
              <a:rPr lang="en-US" sz="1200" dirty="0"/>
              <a:t>If the “with-tag” group has higher PI/CSAT/HL/CMP -&gt; the tag is </a:t>
            </a:r>
            <a:r>
              <a:rPr lang="en-US" sz="1200" b="1" dirty="0"/>
              <a:t>positively associated</a:t>
            </a:r>
            <a:r>
              <a:rPr lang="en-US" sz="1200" dirty="0"/>
              <a:t> with good ratings.</a:t>
            </a:r>
          </a:p>
          <a:p>
            <a:br>
              <a:rPr lang="en-US" sz="1200" dirty="0"/>
            </a:br>
            <a:r>
              <a:rPr lang="en-US" sz="1200" dirty="0"/>
              <a:t>Calculate a simple </a:t>
            </a:r>
            <a:r>
              <a:rPr lang="en-US" sz="1200" b="1" dirty="0"/>
              <a:t>effect size</a:t>
            </a:r>
            <a:r>
              <a:rPr lang="en-US" sz="1200" dirty="0"/>
              <a:t> to show how strong the difference is.</a:t>
            </a:r>
          </a:p>
          <a:p>
            <a:r>
              <a:rPr lang="en-US" sz="1200" dirty="0"/>
              <a:t>This shows </a:t>
            </a:r>
            <a:r>
              <a:rPr lang="en-US" sz="1200" b="1" dirty="0"/>
              <a:t>association, not causation</a:t>
            </a:r>
            <a:r>
              <a:rPr lang="en-US" sz="1200" dirty="0"/>
              <a:t>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31026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AA7E-B382-E76A-AADE-36BB43A5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3C6D29-9ED2-3871-4CFC-F15D624A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752000"/>
            <a:ext cx="6300000" cy="10800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dirty="0"/>
              <a:t> Challenges Expected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FA887-77CB-4F62-B583-8BE4DBAE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752000"/>
            <a:ext cx="252000" cy="10800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r>
              <a:rPr lang="de-DE"/>
              <a:t>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52F5F29-D6DE-92E5-B971-F6FD25AB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395288"/>
            <a:ext cx="7559675" cy="468312"/>
          </a:xfrm>
        </p:spPr>
        <p:txBody>
          <a:bodyPr/>
          <a:lstStyle/>
          <a:p>
            <a:r>
              <a:rPr lang="en-GB" b="1" dirty="0"/>
              <a:t>Challenges Expected</a:t>
            </a:r>
            <a:br>
              <a:rPr lang="en-GB" b="1" dirty="0"/>
            </a:br>
            <a:endParaRPr lang="en-GB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B667B4B-FE1A-8448-C86B-BB248EEF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64" y="809006"/>
            <a:ext cx="837047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Theoretical</a:t>
            </a:r>
          </a:p>
          <a:p>
            <a:endParaRPr lang="en-US" sz="1400" dirty="0"/>
          </a:p>
          <a:p>
            <a:r>
              <a:rPr lang="en-US" sz="1400" b="1" dirty="0"/>
              <a:t>Construct validity &amp; confounds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Politeness may overlap with tone, length, or difficulty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Some items may unintentionally touch multiple constructs</a:t>
            </a:r>
          </a:p>
          <a:p>
            <a:br>
              <a:rPr lang="en-US" sz="1400" dirty="0"/>
            </a:br>
            <a:r>
              <a:rPr lang="en-US" sz="1400" b="1" dirty="0"/>
              <a:t>Mitigation:</a:t>
            </a:r>
            <a:r>
              <a:rPr lang="en-US" sz="1400" dirty="0"/>
              <a:t> length-match replies (±15%), fix the item -&gt; Make sure Chatbot A and Chatbot B replies for the same prompt are roughly the same length, so that </a:t>
            </a:r>
            <a:r>
              <a:rPr lang="en-US" sz="1400" i="1" dirty="0"/>
              <a:t>length</a:t>
            </a:r>
            <a:r>
              <a:rPr lang="en-US" sz="1400" dirty="0"/>
              <a:t> does not unfairly influence ratings of politeness or clarity.</a:t>
            </a:r>
          </a:p>
          <a:p>
            <a:endParaRPr lang="en-US" sz="1400" b="1" dirty="0"/>
          </a:p>
          <a:p>
            <a:r>
              <a:rPr lang="en-US" sz="1400" b="1" dirty="0"/>
              <a:t>Associational (not causal) tag effects</a:t>
            </a:r>
            <a:endParaRPr lang="en-US" sz="1400" dirty="0"/>
          </a:p>
          <a:p>
            <a:r>
              <a:rPr lang="en-US" sz="1400" dirty="0"/>
              <a:t>Tags can co-vary with prompt content, which inflates correlations</a:t>
            </a:r>
          </a:p>
          <a:p>
            <a:br>
              <a:rPr lang="en-US" sz="1400" dirty="0"/>
            </a:br>
            <a:r>
              <a:rPr lang="en-US" sz="1400" b="1" dirty="0"/>
              <a:t>Mitigation:</a:t>
            </a:r>
            <a:r>
              <a:rPr lang="en-US" sz="1400" dirty="0"/>
              <a:t> treat tag effects as correlational, report CIs, and check robustness with/without certain prompts.</a:t>
            </a:r>
          </a:p>
        </p:txBody>
      </p:sp>
    </p:spTree>
    <p:extLst>
      <p:ext uri="{BB962C8B-B14F-4D97-AF65-F5344CB8AC3E}">
        <p14:creationId xmlns:p14="http://schemas.microsoft.com/office/powerpoint/2010/main" val="314044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AA7E-B382-E76A-AADE-36BB43A5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3C6D29-9ED2-3871-4CFC-F15D624A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752000"/>
            <a:ext cx="6300000" cy="10800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 dirty="0"/>
              <a:t> Challenges Expected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FA887-77CB-4F62-B583-8BE4DBAE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752000"/>
            <a:ext cx="252000" cy="108000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de-DE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r>
              <a:rPr lang="de-DE" sz="700" dirty="0"/>
              <a:t>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52F5F29-D6DE-92E5-B971-F6FD25AB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395288"/>
            <a:ext cx="7559675" cy="468312"/>
          </a:xfrm>
        </p:spPr>
        <p:txBody>
          <a:bodyPr/>
          <a:lstStyle/>
          <a:p>
            <a:r>
              <a:rPr lang="en-GB" b="1" dirty="0"/>
              <a:t>Challenges Expected</a:t>
            </a:r>
            <a:br>
              <a:rPr lang="en-GB" b="1" dirty="0"/>
            </a:br>
            <a:endParaRPr lang="en-GB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33E8225-776A-35B5-BBA0-63DC72AD6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32922"/>
            <a:ext cx="741682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Technical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r>
              <a:rPr lang="en-GB" sz="1400" b="1" dirty="0"/>
              <a:t>Mapping layer</a:t>
            </a:r>
            <a:endParaRPr lang="en-GB" sz="1400" dirty="0"/>
          </a:p>
          <a:p>
            <a:r>
              <a:rPr lang="en-GB" sz="1400" dirty="0"/>
              <a:t>Risks: column mismatches, ID inconsistencies, construct-map errors</a:t>
            </a:r>
          </a:p>
          <a:p>
            <a:r>
              <a:rPr lang="en-GB" sz="1400" dirty="0"/>
              <a:t>Fix: alias map, normalized IDs, versioned construct map, strict referential checks</a:t>
            </a:r>
          </a:p>
          <a:p>
            <a:endParaRPr lang="en-GB" sz="1400" dirty="0"/>
          </a:p>
          <a:p>
            <a:r>
              <a:rPr lang="en-GB" sz="1400" b="1" dirty="0"/>
              <a:t>Tagging engine</a:t>
            </a:r>
            <a:endParaRPr lang="en-GB" sz="1400" dirty="0"/>
          </a:p>
          <a:p>
            <a:r>
              <a:rPr lang="en-GB" sz="1400" dirty="0"/>
              <a:t>Risks: false Apology hits, hedge/general confusion</a:t>
            </a:r>
          </a:p>
          <a:p>
            <a:r>
              <a:rPr lang="en-GB" sz="1400" dirty="0"/>
              <a:t>Fix: apply </a:t>
            </a:r>
            <a:r>
              <a:rPr lang="en-GB" sz="1400" dirty="0" err="1"/>
              <a:t>Tagbook</a:t>
            </a:r>
            <a:r>
              <a:rPr lang="en-GB" sz="1400" dirty="0"/>
              <a:t> v1.1 with negation window + precedence; validate with tests and audit logs. Also Tag book – rules have to be strictly controlled by me and follow strict academic theories.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2792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2D91EE-643A-648D-5500-547A35260E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20000" y="4754200"/>
            <a:ext cx="6300000" cy="108000"/>
          </a:xfrm>
        </p:spPr>
        <p:txBody>
          <a:bodyPr/>
          <a:lstStyle/>
          <a:p>
            <a:r>
              <a:rPr lang="de-DE" dirty="0"/>
              <a:t> Literature RevieId and Applied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D327A9-FB2C-E239-94FF-7F458D562BE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28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8D60F0-E1A3-FCE4-9A27-022F36075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</a:t>
            </a:r>
            <a:r>
              <a:rPr lang="en-GB" dirty="0" err="1"/>
              <a:t>RevieId</a:t>
            </a:r>
            <a:r>
              <a:rPr lang="en-GB" dirty="0"/>
              <a:t> and Applied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E26C28-23DF-CA78-F1A5-35FC01FFCD88}"/>
              </a:ext>
            </a:extLst>
          </p:cNvPr>
          <p:cNvSpPr txBox="1"/>
          <p:nvPr/>
        </p:nvSpPr>
        <p:spPr>
          <a:xfrm>
            <a:off x="468000" y="1232922"/>
            <a:ext cx="79181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Brown &amp; Levinson (1987): </a:t>
            </a:r>
            <a:r>
              <a:rPr lang="en-GB" sz="1200" dirty="0"/>
              <a:t>Politeness: Some Universals in Language </a:t>
            </a:r>
            <a:r>
              <a:rPr lang="en-GB" sz="1200" dirty="0" err="1"/>
              <a:t>UsageFoundational</a:t>
            </a:r>
            <a:r>
              <a:rPr lang="en-GB" sz="1200" dirty="0"/>
              <a:t> framework for </a:t>
            </a:r>
            <a:r>
              <a:rPr lang="en-GB" sz="1200" dirty="0" err="1"/>
              <a:t>analyzing</a:t>
            </a:r>
            <a:r>
              <a:rPr lang="en-GB" sz="1200" dirty="0"/>
              <a:t> linguistic politeness strategies in human and chatbot interactions.</a:t>
            </a:r>
          </a:p>
          <a:p>
            <a:endParaRPr lang="en-GB" sz="1200" dirty="0"/>
          </a:p>
          <a:p>
            <a:r>
              <a:rPr lang="en-GB" sz="1200" b="1" dirty="0" err="1"/>
              <a:t>Pagidyala</a:t>
            </a:r>
            <a:r>
              <a:rPr lang="en-GB" sz="1200" b="1" dirty="0"/>
              <a:t>, S. (2023): </a:t>
            </a:r>
            <a:r>
              <a:rPr lang="en-GB" sz="1200" dirty="0"/>
              <a:t>Key Lessons from Amazon’s Customer Service Chatbot </a:t>
            </a:r>
            <a:r>
              <a:rPr lang="en-GB" sz="1200" dirty="0" err="1"/>
              <a:t>RufusInsights</a:t>
            </a:r>
            <a:r>
              <a:rPr lang="en-GB" sz="1200" dirty="0"/>
              <a:t> into Amazon's chatbot design priorities and customer interaction strategies.</a:t>
            </a:r>
          </a:p>
          <a:p>
            <a:endParaRPr lang="en-GB" sz="1200" dirty="0"/>
          </a:p>
          <a:p>
            <a:r>
              <a:rPr lang="en-GB" sz="1200" b="1" dirty="0" err="1"/>
              <a:t>Cleverence</a:t>
            </a:r>
            <a:r>
              <a:rPr lang="en-GB" sz="1200" b="1" dirty="0"/>
              <a:t>: </a:t>
            </a:r>
            <a:r>
              <a:rPr lang="en-GB" sz="1200" dirty="0"/>
              <a:t>How Shopify and Amazon Use AI-</a:t>
            </a:r>
            <a:r>
              <a:rPr lang="en-GB" sz="1200" dirty="0" err="1"/>
              <a:t>PoIred</a:t>
            </a:r>
            <a:r>
              <a:rPr lang="en-GB" sz="1200" dirty="0"/>
              <a:t> Chatbots to Improve Customer </a:t>
            </a:r>
            <a:r>
              <a:rPr lang="en-GB" sz="1200" dirty="0" err="1"/>
              <a:t>ServiceIndustry</a:t>
            </a:r>
            <a:r>
              <a:rPr lang="en-GB" sz="1200" dirty="0"/>
              <a:t> perspectives on AI chatbot deployment and response strategies.</a:t>
            </a:r>
          </a:p>
          <a:p>
            <a:endParaRPr lang="en-GB" sz="1200" dirty="0"/>
          </a:p>
          <a:p>
            <a:r>
              <a:rPr lang="en-GB" sz="1200" b="1" dirty="0"/>
              <a:t>Quidget.ai: </a:t>
            </a:r>
            <a:r>
              <a:rPr lang="en-GB" sz="1200" dirty="0"/>
              <a:t>7 Challenges of Chatbot Integration and </a:t>
            </a:r>
            <a:r>
              <a:rPr lang="en-GB" sz="1200" dirty="0" err="1"/>
              <a:t>SolutionsDiscussion</a:t>
            </a:r>
            <a:r>
              <a:rPr lang="en-GB" sz="1200" dirty="0"/>
              <a:t> on technical and human-</a:t>
            </a:r>
            <a:r>
              <a:rPr lang="en-GB" sz="1200" dirty="0" err="1"/>
              <a:t>centered</a:t>
            </a:r>
            <a:r>
              <a:rPr lang="en-GB" sz="1200" dirty="0"/>
              <a:t> challenges in chatbot systems.</a:t>
            </a:r>
          </a:p>
          <a:p>
            <a:endParaRPr lang="en-GB" sz="1200" dirty="0"/>
          </a:p>
          <a:p>
            <a:r>
              <a:rPr lang="en-GB" sz="1200" b="1" dirty="0"/>
              <a:t>Glance &amp; Accenture: </a:t>
            </a:r>
            <a:r>
              <a:rPr lang="en-GB" sz="1200" dirty="0"/>
              <a:t>The </a:t>
            </a:r>
            <a:r>
              <a:rPr lang="en-GB" sz="1200" dirty="0" err="1"/>
              <a:t>PoIr</a:t>
            </a:r>
            <a:r>
              <a:rPr lang="en-GB" sz="1200" dirty="0"/>
              <a:t> of Empathy in Customer </a:t>
            </a:r>
            <a:r>
              <a:rPr lang="en-GB" sz="1200" dirty="0" err="1"/>
              <a:t>ServiceEmphasis</a:t>
            </a:r>
            <a:r>
              <a:rPr lang="en-GB" sz="1200" dirty="0"/>
              <a:t> on the role of emotional intelligence in enhancing digital service experiences.</a:t>
            </a:r>
          </a:p>
        </p:txBody>
      </p:sp>
    </p:spTree>
    <p:extLst>
      <p:ext uri="{BB962C8B-B14F-4D97-AF65-F5344CB8AC3E}">
        <p14:creationId xmlns:p14="http://schemas.microsoft.com/office/powerpoint/2010/main" val="2983818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692A8-9829-1A47-BB20-8674D20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 data and code libraries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6EDA16-4480-634F-A0F7-B452520D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FF6062-5FBD-A146-B19F-0E3655D7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29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4CDAF7-1FEB-7473-D2F1-DCBC64413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44" y="771550"/>
            <a:ext cx="82264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pandas.read_csv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pandas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PyData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https://pandas.pydata.org/docs/reference/api/pandas.read_csv.html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pandas.pydata.org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pandas.merge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pandas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PyData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https://pandas.pydata.org/docs/reference/api/pandas.merge.html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pandas.pydata.org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Pandera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Developers.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Schemas —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pandera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Read the Docs.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https://pandera.readthedocs.io/en/stable/dataframe_schemas.html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pandera.readthedocs.io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Expectations.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Expectations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https://docs.greatexpectations.io/docs/home/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docs.greatexpectations.io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ttest_ind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SciPy v1.16.1 Manual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https://docs.scipy.org/doc/scipy/reference/generated/scipy.stats.ttest_ind.html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docs.scipy.org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statsmodels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statsmodels.stats.multitest.multipletests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https://www.statsmodels.org/dev/generated/statsmodels.stats.multitest.multipletests.html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statsmodels.org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Benjamini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Y., &amp; Hochberg, Y. (1995).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Controlling the false discovery rate: A practical and powerful approach to multiple testing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the Royal Statistical Society: Series B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57(1), 289–300. https://doi.org/10.1111/j.2517-6161.1995.tb02031.x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rss.onlinelibrary.wiley.com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Pingouin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Developers. (n.d.).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compute_effsize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Pingouin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0.5.5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https://pingouin-stats.org/build/html/generated/pingouin.compute_effsize.html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pingouin-stats.org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Software Foundation.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Expression HOWTO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https://docs.python.org/3/howto/regex.html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Python documentation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pytest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-dev.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@pytest.mark.parametrize: Parametrizing test functions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https://docs.pytest.org/en/stable/how-to/parametrize.html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docs.pytest.org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Hypothesis.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Hypothesis documentation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https://hypothesis.readthedocs.io/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hypothesis.readthedocs.io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 maintainers.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Black: The uncompromising code formatter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https://black.readthedocs.io/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black.readthedocs.io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Astral. (n.d.).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Ruff — Astral docs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4"/>
              </a:rPr>
              <a:t>https://docs.astral.sh/ruff/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(Retrieved September 1, 2025)</a:t>
            </a:r>
          </a:p>
        </p:txBody>
      </p:sp>
    </p:spTree>
    <p:extLst>
      <p:ext uri="{BB962C8B-B14F-4D97-AF65-F5344CB8AC3E}">
        <p14:creationId xmlns:p14="http://schemas.microsoft.com/office/powerpoint/2010/main" val="3810854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3DF1B-46DD-45FF-8802-56FD9ED45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22996"/>
            <a:ext cx="7560000" cy="468000"/>
          </a:xfrm>
        </p:spPr>
        <p:txBody>
          <a:bodyPr/>
          <a:lstStyle/>
          <a:p>
            <a:r>
              <a:rPr lang="de-DE" dirty="0"/>
              <a:t>Research Timeline &amp; Milestones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584B97-0830-49E9-8622-7CA269A9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Timetable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53DEE6-588D-4F30-8C07-1546A188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30</a:t>
            </a:fld>
            <a:r>
              <a:rPr lang="de-DE"/>
              <a:t> </a:t>
            </a:r>
            <a:endParaRPr lang="de-DE" dirty="0"/>
          </a:p>
        </p:txBody>
      </p:sp>
      <p:graphicFrame>
        <p:nvGraphicFramePr>
          <p:cNvPr id="6" name="Tabellenplatzhalter 5">
            <a:extLst>
              <a:ext uri="{FF2B5EF4-FFF2-40B4-BE49-F238E27FC236}">
                <a16:creationId xmlns:a16="http://schemas.microsoft.com/office/drawing/2014/main" id="{74D7691F-EB0A-459B-9369-7C55A08E09F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516036554"/>
              </p:ext>
            </p:extLst>
          </p:nvPr>
        </p:nvGraphicFramePr>
        <p:xfrm>
          <a:off x="394824" y="536156"/>
          <a:ext cx="8497655" cy="3936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31">
                  <a:extLst>
                    <a:ext uri="{9D8B030D-6E8A-4147-A177-3AD203B41FA5}">
                      <a16:colId xmlns:a16="http://schemas.microsoft.com/office/drawing/2014/main" val="1782383127"/>
                    </a:ext>
                  </a:extLst>
                </a:gridCol>
                <a:gridCol w="1699531">
                  <a:extLst>
                    <a:ext uri="{9D8B030D-6E8A-4147-A177-3AD203B41FA5}">
                      <a16:colId xmlns:a16="http://schemas.microsoft.com/office/drawing/2014/main" val="3907831228"/>
                    </a:ext>
                  </a:extLst>
                </a:gridCol>
                <a:gridCol w="1699531">
                  <a:extLst>
                    <a:ext uri="{9D8B030D-6E8A-4147-A177-3AD203B41FA5}">
                      <a16:colId xmlns:a16="http://schemas.microsoft.com/office/drawing/2014/main" val="3465215115"/>
                    </a:ext>
                  </a:extLst>
                </a:gridCol>
                <a:gridCol w="1699531">
                  <a:extLst>
                    <a:ext uri="{9D8B030D-6E8A-4147-A177-3AD203B41FA5}">
                      <a16:colId xmlns:a16="http://schemas.microsoft.com/office/drawing/2014/main" val="3007677052"/>
                    </a:ext>
                  </a:extLst>
                </a:gridCol>
                <a:gridCol w="1699531">
                  <a:extLst>
                    <a:ext uri="{9D8B030D-6E8A-4147-A177-3AD203B41FA5}">
                      <a16:colId xmlns:a16="http://schemas.microsoft.com/office/drawing/2014/main" val="2129803122"/>
                    </a:ext>
                  </a:extLst>
                </a:gridCol>
              </a:tblGrid>
              <a:tr h="336868">
                <a:tc gridSpan="5">
                  <a:txBody>
                    <a:bodyPr/>
                    <a:lstStyle/>
                    <a:p>
                      <a:r>
                        <a:rPr lang="de-DE" sz="1500" b="1" dirty="0">
                          <a:solidFill>
                            <a:schemeClr val="tx2"/>
                          </a:solidFill>
                        </a:rPr>
                        <a:t>May – December 2025 Research 1</a:t>
                      </a:r>
                    </a:p>
                  </a:txBody>
                  <a:tcP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789036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Timeframe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Key Tasks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What I Will Do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Expected Output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302797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r>
                        <a:rPr lang="de-DE" sz="1000" b="1">
                          <a:solidFill>
                            <a:schemeClr val="tx2"/>
                          </a:solidFill>
                        </a:rPr>
                        <a:t>Set up</a:t>
                      </a:r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May - June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Design &amp; Planning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Finalize topic, framework, </a:t>
                      </a:r>
                      <a:r>
                        <a:rPr lang="en-US" sz="1000" dirty="0" err="1"/>
                        <a:t>tagset</a:t>
                      </a:r>
                      <a:r>
                        <a:rPr lang="en-US" sz="1000" dirty="0"/>
                        <a:t>, survey draft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Theory slides + 2-page methods memo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846124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Annotation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July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Data Labeling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Freeze </a:t>
                      </a:r>
                      <a:r>
                        <a:rPr lang="en-US" sz="1000" dirty="0" err="1"/>
                        <a:t>Tagbook</a:t>
                      </a:r>
                      <a:r>
                        <a:rPr lang="en-US" sz="1000" dirty="0"/>
                        <a:t> v1.1 (T01–T06)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Tagbook</a:t>
                      </a:r>
                      <a:r>
                        <a:rPr lang="en-US" sz="1000" dirty="0"/>
                        <a:t> slide + exemplar sheet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237455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Pilot &amp; Ratings Prep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August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Tag book &amp; Annotation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Annotate a small subset; build construct scores.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Methodology slide + one pilot table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213041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Methodology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September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Pilot &amp; Ratings Prep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Join tags &amp; ratings on (</a:t>
                      </a:r>
                      <a:r>
                        <a:rPr lang="en-US" sz="1000" dirty="0" err="1"/>
                        <a:t>Prompt_Id</a:t>
                      </a:r>
                      <a:r>
                        <a:rPr lang="en-US" sz="1000" dirty="0"/>
                        <a:t> + condition);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Completed reply_tags.csv + audit notes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3692431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Full Annotation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October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Collect User Ratings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Apply rules to all replies; QA edge cases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Analysis tables + simple figures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923840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Analysis</a:t>
                      </a:r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Late Oct / Late Nov 2025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Data Analysis</a:t>
                      </a:r>
                      <a:endParaRPr lang="de-DE" sz="10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Compare tags + calculate. Summary result.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Presented deck + feedback action list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926707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Finalization</a:t>
                      </a:r>
                      <a:endParaRPr lang="de-DE" sz="10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Dec 2025 - February 2026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Writing &amp; Presentation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Robustness checks; revise visuals; draft short interim report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v-SE" sz="1000" dirty="0"/>
                        <a:t>Interim report + slide deck v1 (Dec)</a:t>
                      </a:r>
                      <a:endParaRPr lang="de-DE" sz="1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929592"/>
                  </a:ext>
                </a:extLst>
              </a:tr>
              <a:tr h="33686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Schlusszeile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Project Design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Annotation &amp; Survey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Data analysis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1" dirty="0">
                          <a:solidFill>
                            <a:schemeClr val="tx2"/>
                          </a:solidFill>
                        </a:rPr>
                        <a:t>Finalization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0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5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A9586FB-4BE5-6049-8CC3-0EBC1CE3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Questions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B0FCD5-40B1-1847-8420-AA6E9533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31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B70C87F-5680-4145-B4CA-870060EC2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B02ED34-1DD4-FD43-98E8-A1ECBD1151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All Questions are Ilcome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1BC0611-FCC2-EB41-B14D-C73B4E87F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Nhat.Dang@edu.ruhr-uni-bochum.de</a:t>
            </a:r>
          </a:p>
        </p:txBody>
      </p:sp>
    </p:spTree>
    <p:extLst>
      <p:ext uri="{BB962C8B-B14F-4D97-AF65-F5344CB8AC3E}">
        <p14:creationId xmlns:p14="http://schemas.microsoft.com/office/powerpoint/2010/main" val="366179590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dsl_new" id="{E6300DBC-DA46-8A4E-A992-6D6FFCC5B225}" vid="{FDA28492-59CF-8140-A178-54C9613E0FC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ldsl_new</Template>
  <TotalTime>1219</TotalTime>
  <Words>3045</Words>
  <Application>Microsoft Office PowerPoint</Application>
  <PresentationFormat>On-screen Show (16:9)</PresentationFormat>
  <Paragraphs>358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RUB Scala MZ</vt:lpstr>
      <vt:lpstr>RubFlama</vt:lpstr>
      <vt:lpstr>Wingdings</vt:lpstr>
      <vt:lpstr>PowerPoint Master RUB</vt:lpstr>
      <vt:lpstr>Speech Acts and Politeness Strategies in Customer Service Chatbots</vt:lpstr>
      <vt:lpstr>What does “speech acts” mean here?</vt:lpstr>
      <vt:lpstr>What does “polite” mean here?</vt:lpstr>
      <vt:lpstr>“Why Should a Customer Service Chatbot Be Polite?”</vt:lpstr>
      <vt:lpstr>Project aims</vt:lpstr>
      <vt:lpstr>Methodology</vt:lpstr>
      <vt:lpstr>Methodology</vt:lpstr>
      <vt:lpstr>Working tools </vt:lpstr>
      <vt:lpstr>Annotation Workflow</vt:lpstr>
      <vt:lpstr>1. Collect &amp; Prepare (Prompts -&gt; Reply Pairs)</vt:lpstr>
      <vt:lpstr>1. Collect &amp; Prepare (Prompts -&gt; Reply Pairs)</vt:lpstr>
      <vt:lpstr>Collect &amp; Prepare</vt:lpstr>
      <vt:lpstr>2. Tag Setup and rule-based tagging</vt:lpstr>
      <vt:lpstr>2. Tag Setup and rule-based tagging</vt:lpstr>
      <vt:lpstr>Tag Setup -&gt; Label Studio (Prediction -&gt; Final Tags)</vt:lpstr>
      <vt:lpstr>3. Ratings Survey: outcomes, setup, and data</vt:lpstr>
      <vt:lpstr>3. Survey</vt:lpstr>
      <vt:lpstr>Expected grade outcomes</vt:lpstr>
      <vt:lpstr>Tag and survey used</vt:lpstr>
      <vt:lpstr>4. Survey to Data Assets</vt:lpstr>
      <vt:lpstr>Preprocess aggregate example (chatbot amazon participant 17)</vt:lpstr>
      <vt:lpstr>Analysis Overview (What I Do With the Data)</vt:lpstr>
      <vt:lpstr>Analysis</vt:lpstr>
      <vt:lpstr>Why do we check correlation between tags and ratings?</vt:lpstr>
      <vt:lpstr>Correlation Between Tags &amp; Ratings</vt:lpstr>
      <vt:lpstr>Challenges Expected </vt:lpstr>
      <vt:lpstr>Challenges Expected </vt:lpstr>
      <vt:lpstr>Literature RevieId and Applied</vt:lpstr>
      <vt:lpstr>References data and code libraries </vt:lpstr>
      <vt:lpstr>Research Timeline &amp; Milestones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AC: Data collection and data simulation for GLMMs</dc:title>
  <dc:creator>Mirjam Koch</dc:creator>
  <cp:lastModifiedBy>Đặng Nhật Quang</cp:lastModifiedBy>
  <cp:revision>144</cp:revision>
  <dcterms:created xsi:type="dcterms:W3CDTF">2022-05-31T19:12:36Z</dcterms:created>
  <dcterms:modified xsi:type="dcterms:W3CDTF">2025-11-29T21:51:59Z</dcterms:modified>
</cp:coreProperties>
</file>